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r case" id="{27549a86-3bf8-f171-b896-fc4ac671b7a1}">
          <p14:sldIdLst>
            <p14:sldId id="256"/>
            <p14:sldId id="257"/>
            <p14:sldId id="258"/>
            <p14:sldId id="259"/>
            <p14:sldId id="260"/>
            <p14:sldId id="261"/>
            <p14:sldId id="262"/>
            <p14:sldId id="263"/>
          </p14:sldIdLst>
        </p14:section>
        <p14:section name="Live rebuttal" id="{7b6934cf-025c-904a-0fe0-368575c4f23b}">
          <p14:sldIdLst>
            <p14:sldId id="264"/>
            <p14:sldId id="265"/>
            <p14:sldId id="266"/>
            <p14:sldId id="267"/>
            <p14:sldId id="268"/>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P1 (opening)
OBJECTIVE: Frame the debate around where legal responsibility begins, not whether misinformation is harmful.
SAY (ACKNOWLEDGE)
"Let's start with what we agree on. Misinformation can cause real harm, and platforms have enormous influence over what people see."
Point at the three steps: a user posts, a platform hosts, someone is harmed. Then: "Tonight's real question is the last line: when does the platform become legally responsible?"
Advance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P1 (opening, continued)
OBJECTIVE: Show we are not defending misinformation, and separate harm from liability before Group 5 merges them.
SAY (CLASH)
"Our disagreement isn't about whether the problem matters. It's about whether making a platform legally responsible for determining the truth of what someone else says actually solves it."
SAY (FRAME)
"So throughout this debate, we're going to ask one simple question: what exactly triggers liability?"
Land the bottom line slowly: they do / users say.
Advance to P1 · Trigger.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P1 · TRIGGER
OBJECTIVE: Make Group 5 name the exact trigger for liability. Pressure-test: what exactly creates the duty?
THEIR STRONGEST CASE
"We're not asking for automatic liability. Every business has a duty of care. Once a platform knows harmful misinformation is spreading and does nothing, that's negligence, like a store ignoring a spill it's been told about."
THE VERSION OF GROUP 5 WE MUST BEAT
"Large platforms should face liability when they knowingly or negligently fail to address harmful misinformation that they amplify."
Even under a negligence or notice standard, they still have to answer our five questions:
1. TRIGGER (P1): what triggers the duty?
2. TRUTH (P2): who determines falsity?
3. CONDUCT (P3): what exactly did the platform do?
4. CONSEQUENCES (P4): what will the liability rule reward?
5. ALTERNATIVE (P5): is there a narrower way to target the actual harm?
OUR ARGUMENT (45–60s)
"Fair, and that's a narrower rule than the motion sounds. So let's test it. What creates the duty: the post being false, someone reporting it, or the platform failing to act? If it's a report, a complaint isn't proof. The platform still has to decide whether the complaint is right. And 'reasonable steps' toward what: taking it down, or working out whether it's true? If it's taking it down, true posts go too. If it's checking the truth, the platform becomes the judge. We accept liability for a platform's own wrongdoing. We don't accept that someone else's false sentence creates the duty."
KEY EXAMPLE
A bookshop isn't liable for a false claim inside a book it sells but hasn't read. Courts rejected that idea decades ago, because shops would stop stocking anything risky.
THEY MAY COUNTER
"Only for content that's clearly false and harmful."
OUR RESPONSE (10–15s)
"Who decides it's clearly false? If a court decides, we agree. If the company decides on a complaint, that's the problem."
QUESTION BACK
"Under your rule, is a platform liable just because a user's post turns out to be false?"
  If yes: "So a small forum is liable for a post nobody there has read?"
  If no: "Then what's the extra step? That's a much narrower rule."
  If 'only after notice': "Told by whom? A complaint isn't proof."
EVIDENCE
1. US Supreme Court (1959) rejected holding booksellers liable for books they hadn't read.
2. US courts have rejected liability just because a platform was told about a post.
ALSO MINE IN REBUTTAL
Publisher comparison: "Newspapers choose each piece before printing, and even they usually have to be at fault."
HANDOFF
"And every one of those options needs someone to decide what's false. [P2]."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P2 · TRUTH
OBJECTIVE: Show that every liability rule needs a referee of truth, fast, under legal risk. Never say truth is subjective.
THEIR STRONGEST CASE
"Most misinformation isn't a philosophical puzzle. Fake cures, wrong voting dates, invented quotes. Platforms already work with fact-checkers and experts. It's not hard."
OUR ARGUMENT (45–60s)
"Agreed, plenty of it is clearly false, and platforms already remove a lot of that. A liability rule only changes behaviour in the hard cases, where facts are disputed or still coming in. Someone has to make the call quickly. A court takes months. So the platform decides, knowing it can be sued only for leaving things up. That isn't a recipe for accuracy."
KEY EXAMPLE
In 2021 Facebook followed the expert view and banned claims that COVID came from a lab, then reversed itself about four months later as investigations continued. Under liability, which decision should it have been sued for?
THEY MAY COUNTER
"Courts decide truth all the time in defamation cases."
OUR RESPONSE (10–15s)
"One statement about one person, after a trial, usually with fault required. That doesn't help someone who has to decide today."
QUESTION BACK
"When a post is disputed, should the platform itself decide, with a lawsuit if it's wrong?"
  If yes: "So it can only be sued for leaving things up. Which way will it lean?"
  If no: "Then who? A court takes months; the platform still guesses first."
  If 'follow the experts': use the Facebook example.
EVIDENCE
Facebook's 2021 ban on COVID-origin claims, reversed about four months later.
ALSO MINE IN REBUTTAL
"They know misinformation is there": "Knowing it exists isn't knowing this post is false."
Free speech: "Fraud and defamation aren't protected, but a statement isn't unprotected just because it's false."
HANDOFF
"So the real question is what the platform itself did. [P3]."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P3 · CONDUCT
OBJECTIVE: Separate what the platform did from what a user said. Concede that ranking is a platform choice; show that conduct, not falsity, is the right target.
THEIR STRONGEST CASE
"Platforms design algorithms that push outrage and falsehood to millions because it keeps people scrolling, and they profit from it. That's not hosting. That's participation."
OUR ARGUMENT (45–60s)
"I agree platforms aren't neutral. Ranking and recommending are choices, and when a platform's own choices cause harm, it should answer for them. Courts are already doing that: juries this year found against platforms over addictive design and a company's own misleading statements about safety. But that actually narrows the issue. If amplification is what creates responsibility, simply hosting can't be enough. If recommendation is the problem, regulate recommendation. That still doesn't make a platform liable because the underlying post is false."
KEY EXAMPLE
If a car maker builds faulty brakes, it's liable. If a passenger in the car tells a lie, it isn't. Same car, different responsibility.
THEY MAY COUNTER
"One US appeals court has said the algorithm is the platform's own speech, so it can be liable."
OUR RESPONSE (10–15s)
"That case was about an app pushing a dangerous challenge to a child. That's the platform's conduct, which we agree can carry liability. It isn't a rule about users' false posts."
QUESTION BACK
"If a site just shows posts in date order, with no recommending, should it be liable for a user's false post?"
  If yes: "Then algorithms aren't your reason."
  If no: "So hosting isn't enough. It's what they do. That's our point."
EVIDENCE
The March 2026 jury verdicts against platforms concerned addictive design and a company's own statements. They are jury decisions under appeal, not binding precedent, so don't overclaim them.
ALSO MINE IN REBUTTAL
"They profit from it": "They profit from true posts too. Profit tells us who can afford rules, not which posts are false."
HANDOFF
"So what would a rule like theirs actually make platforms do? [P4]."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P4 · CONSEQUENCES
OBJECTIVE: Show the asymmetric incentive. Not 'everything gets censored', but 'the close calls go to delete'.
THEIR STRONGEST CASE
"Voluntary moderation comes and goes. Meta dropped its US fact-checking in 2025. Without a legal consequence, safety lasts until the next strategy change."
OUR ARGUMENT (45–60s)
"Platforms do have incentives today: advertisers, users, regulators. The question is what liability adds. Put yourself in the platform's legal team. A disputed post is a risk if it stays up and no risk if it comes down. So the close calls go one way. Meta itself estimated that one or two in every ten of its removals may already be mistakes, without any lawsuit pressure. Smaller sites often can't carry the risk at all. We're not saying everything gets censored. We're saying the incentive points at deleting, not at getting it right."
KEY EXAMPLE
When Australia made page owners responsible for readers' comments, CNN switched off its Facebook pages there rather than carry the risk.
THEY MAY COUNTER
"Add a good-faith safe harbour so honest mistakes aren't punished."
OUR RESPONSE (10–15s)
"Then you've designed a process rule, not liability for misinformation. Tell us the process. That's a much narrower debate."
QUESTION BACK
"Under your rule, does taking down a true post cost the platform anything?"
  If yes: "Then they're sued both ways on every disputed post. Only the biggest can live with that."
  If no: "Then every close call goes to deletion."
EVIDENCE
1. Meta's own estimate (January 2025): one to two in every ten removals may have been mistakes.
2. CNN restricted its Facebook pages for Australian users after the 2021 ruling.
Both are patterns, not proof about a misinformation-liability law. Say so if challenged.
ALSO MINE IN REBUTTAL
"They already moderate": "Moderating under your own rules isn't moderating under a lawsuit."
"AI can catch it": "AI copies past labels. New disputed claims are exactly what it gets wrong."
HANDOFF
"So is there a better way to go after the harm? [P5]."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P5 · ALTERNATIVE
OBJECTIVE: Show that targeted legal tools exist, without sounding anti-regulation or committing us to design a regime. Deliver the weighing.
THEIR STRONGEST CASE
"Real people get hurt, and anonymous users can't be sued. If the platform isn't accountable, nobody is."
OUR ARGUMENT (45–60s)
"Nobody here is saying 'do nothing'. The person who lied can be sued, and people have been, for very large amounts. Fraud, and scam ads a platform knowingly sells, are wrongs the law can already reach. Platforms can be held liable for harmful design or for knowingly taking part. Courts can order specific content down. And if more regulation is needed, process-based duties for the biggest platforms are a more targeted alternative than liability for whether every user's statement is true. Accountability works best when it's attached to a defined wrong."
KEY EXAMPLE
Even Europe, often held up as the strict model, doesn't make a host liable just because lawful content turns out to be false. It makes platforms act on illegal content and requires the biggest ones to manage risks in their systems.
THEY MAY COUNTER
"Those tools are slow. Court orders arrive after the damage is done."
OUR RESPONSE (10–15s)
"Fast and wrong isn't better. Speed is exactly where mistakes happen, and a vague rule makes the fast decision 'delete'."
QUESTION BACK
"Should the same rule apply to a giant social network and a 2,000-member forum run by one volunteer?"
  If yes: "The forum closes or bans topics, and it has no algorithm."
  If no: "Then the trigger isn't the false post. What is it?"
  If 'scaled duties': "Fair. Then what duty, and how is it met without deciding what's true?"
EVIDENCE
1. Fox's $787.5M settlement with Dominion (2023): speakers face consequences for their own falsehoods.
2. EU Digital Services Act: hosts act on illegal content once they know; the biggest platforms must assess systemic risks.
ALSO MINE IN REBUTTAL
"Europe does it": "Even Europe doesn't make a host liable just because lawful content is false."
WEAK SPOT: don't claim process rules are proven to work better. Say they are more targeted.
HANDOFF
"Which leaves five questions their case has to answer." (advance to The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Closer (per the confirmed speaking order)
OBJECTIVE: Make the conclusion feel inevitable. Mirror the opening.
WHAT GROUP 5 PROVED
Misinformation can cause harm. We agreed in our first sentence.
WHAT GROUP 5 NEEDED TO PROVE
When and why another person's false statement should create legal liability for the platform.
WALK THE CHAIN (one line each)
Trigger: we still don't know what makes the platform liable.
Truth: we still don't know who decides what's false, or how fast.
Conduct: every real wrong they named was the platform's own design or statements, and we accept liability there.
Consequences: their rule makes removing true posts free and leaving disputed ones costly.
Alternative: narrower tools target what platforms actually control.
30-SECOND EMERGENCY CLOSE
"Everyone here wants less misinformation. Group 5 showed it can cause harm, and we agreed with that from the start. What they needed to show was why another person's false statement should make the platform legally liable. A rule like that needs someone to decide what's true in minutes, and it rewards deleting over getting it right. Hold platforms to account for what they do. That's why we oppose the motion."
REBUTTAL: click 'Argument menu' (bottom-right) or type 9 then 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REBUTTAL MENU (hidden slide; reach it from 'Argument menu' on slide 8, or type 9 then Enter).
Workflow: they say something → recognise it → click the tile → owner responds → click ← Menu.
THE VERSION OF GROUP 5 WE MUST BEAT
"Large platforms should face liability when they knowingly or negligently fail to address harmful misinformation that they amplify."
Even under a negligence or notice standard, they still have to answer our five questions:
1. TRIGGER (P1): what triggers the duty?
2. TRUTH (P2): who determines falsity?
3. CONDUCT (P3): what exactly did the platform do?
4. CONSEQUENCES (P4): what will the liability rule reward?
5. ALTERNATIVE (P5): is there a narrower way to target the actual harm?
FAST ROUTING
Duty, notice, 'reasonable steps', negligence, newspapers/publishers → P1
Knowledge, experts, fact-checkers, 'it's obviously false', free speech → P2
Algorithms, design, profit, scam ads → P3
Incentives, 'they already moderate', AI → P4
Harm, victims, Europe, Section 230 reform, court verdicts → P5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P1 · TRIGGER
THEIR STRONGEST VERSION
"We're not asking for automatic liability. Every business owes a duty of care. When a large platform has been told that harmful misinformation is spreading, and it amplifies it anyway, failing to act is negligence. That's how responsibility works everywhere else."
THE VERSION OF GROUP 5 WE MUST BEAT
"Large platforms should face liability when they knowingly or negligently fail to address harmful misinformation that they amplify."
Even under a negligence or notice standard, they still have to answer our five questions:
1. TRIGGER (P1): what triggers the duty?
2. TRUTH (P2): who determines falsity?
3. CONDUCT (P3): what exactly did the platform do?
4. CONSEQUENCES (P4): what will the liability rule reward?
5. ALTERNATIVE (P5): is there a narrower way to target the actual harm?
OUR 10-SECOND RESPONSE
"Reasonable steps toward what? Taking it down, or deciding whether it's true? Either way, someone has to judge the post."
OUR 30-SECOND RESPONSE
"That's a narrower rule, and we're glad to test it. What creates the duty: a report? A report isn't proof, so the platform still has to decide if it's right. If the duty is to take it down, true posts go too. If it's to check the truth, the platform becomes the judge of what's true, with a lawsuit if it guesses wrong. A duty about how platforms build their systems is a different thing, and that's not liability for users' speech."
THEY MAY COUNTER
"Only for content that's clearly false and harmful."
OUR FINAL RESPONSE
"Who decides it's clearly false? If a court, we agree. If the company on a complaint, that's the problem."
QUESTION BACK
"What exactly triggers the legal duty: the post, the report, or something the platform did?"
BEST EVIDENCE
1. US Supreme Court (1959): bookshops can't be held liable for books they hadn't read.
2. US courts have rejected liability just because a platform was told about a post.
WATCH OUT
Don't imply we oppose all duties. Duties about system design, set in advance, are a fair alternative.
Then click ← Menu for the next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P1 · TRIGGER
THEIR STRONGEST VERSION
"A newspaper that prints a defamatory letter can be sued. Platforms reach far more people than any newspaper. Giving them special protection is a double standard. Other industries are liable for harms they facilitate too."
OUR 10-SECOND RESPONSE
"Publishers choose every piece before it goes out. Platforms host posts nobody at the company has read."
OUR 30-SECOND RESPONSE
"An editor reads and picks each item, and even newspapers are usually liable only when they're at fault. Platforms carry huge volumes of posts that no one there has seen. Before 1996, treating a site that moderated like a publisher meant the site that tried got sued and the one that didn't look was fine. That's why the law changed. And other industries are liable for what they make, not for what their customers say."
THEY MAY COUNTER
"Algorithms are the editor now."
OUR FINAL RESPONSE
"Then the issue is the algorithm's design. That's conduct, and you can judge it without the platform ruling on each post's truth."
QUESTION BACK
"Should a platform be liable for a post no one at the company has seen?"
BEST EVIDENCE
Before Section 230 (1996), a service that moderated was treated as a publisher; one that didn't wasn't. That is why the law was written.
WATCH OUT
Don't say platforms make no choices. Concede ranking is a choice and route to P3 if they press on algorithms.
Then click ← Menu for the next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P2 · TRUTH
THEIR STRONGEST VERSION
"Platforms have internal research showing misinformation spreads on their services. They know who the repeat offenders are. They choose engagement over action. Knowledge plus inaction is exactly when the law should step in."
OUR 10-SECOND RESPONSE
"Knowing misinformation exists somewhere isn't knowing this post is false."
OUR 30-SECOND RESPONSE
"Every large platform knows some false content exists, just as a phone company knows people lie on calls. That's general awareness, not knowledge that a specific post is false. And if knowing is what makes you liable, the safest legal strategy is to stop looking. That's the opposite of what we want."
THEY MAY COUNTER
"They know who the repeat offenders are."
OUR FINAL RESPONSE
"Then deal with repeat offenders through account rules and transparency. That doesn't need liability for the truth of every post."
QUESTION BACK
"What exactly must the platform know: that misinformation exists, or that this particular post is false?"
BEST EVIDENCE
US Supreme Court (2023, unanimous): running a service everyone uses, recommendations included, isn't the same as knowingly helping wrongdoing. (A terrorism case, not Section 230; use as an analogy only.)
WATCH OUT
Don't say platforms are ignorant or innocent. They know a lot. The point is what kind of knowledge.
Then click ← Menu for the next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P2 · TRUTH
THEIR STRONGEST VERSION
"This isn't about opinions. Fake cures, wrong voting dates, invented quotes. Fact-checkers and experts identify these every day. And lies aren't protected speech anyway."
OUR 10-SECOND RESPONSE
"Agreed, plenty is clearly false, and platforms already remove it. Liability bites on the disputed ones."
OUR 30-SECOND RESPONSE
"Clearly false content is the easy part, and platforms already take much of it down. A liability rule only changes behaviour in the grey area, where facts are disputed or still emerging. Someone has to make that call in minutes, long before a court does. In 2021 Facebook followed expert guidance and banned claims that COVID came from a lab, then reversed itself about four months later. Under liability, which decision should it have been sued for?"
THEY MAY COUNTER
"Courts decide truth in defamation cases all the time."
OUR FINAL RESPONSE
"One statement about one person, after a trial, usually with fault required. Not a moderator deciding today."
QUESTION BACK
"While the facts are still disputed, who decides, and what happens if they're wrong?"
BEST EVIDENCE
Facebook's 2021 ban on COVID-origin claims, reversed about four months later.
On free speech: the US Supreme Court has said a statement isn't automatically unprotected just because it's false (fraud and defamation still aren't protected).
WATCH OUT
Never say truth is subjective. Concede that many falsehoods are clear-cut.
Then click ← Menu for the next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P3 · CONDUCT
THEIR STRONGEST VERSION
"Platforms aren't bulletin boards. Their recommendation systems choose what millions see, and they push sensational falsehoods because it keeps people engaged. That design choice makes them active participants, and courts have started to agree."
OUR 10-SECOND RESPONSE
"That actually narrows the issue. If amplification is the problem, regulate amplification, not every false post."
OUR 30-SECOND RESPONSE
"We agree ranking is a choice, and platforms should answer for their own choices. Juries this year found against platforms over addictive design. But if amplification is what creates responsibility, simply hosting can't be enough. So the right target is the recommendation system: how it's designed and tested. That still doesn't make the platform liable because a user's underlying post is false."
THEY MAY COUNTER
"A US appeals court has said the algorithm is the platform's own speech, so it can be liable."
OUR FINAL RESPONSE
"That case was about an app pushing a dangerous challenge to a child. That's conduct, and we agree it can carry liability. It isn't a rule about users' false posts."
QUESTION BACK
"If a site just shows posts in date order, with no recommending, should it be liable for a user's false post?"
BEST EVIDENCE
1. March 2026 jury verdicts (design, failure to warn): jury decisions under appeal, not precedent.
2. MIT study (2018): people, not bots, mainly spread false stories.
WATCH OUT
Concede ranking is a choice. Don't lead with free-speech law, and don't claim algorithms don't matter.
Then click ← Menu for the next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P3 · CONDUCT
THEIR STRONGEST VERSION
"Platforms earn money from attention, and false, outrageous content attracts attention. They sell ads against it and even pay creators who spread it. If you profit from the harm, you should share the cost."
OUR 10-SECOND RESPONSE
"They profit from true posts too. Profit tells us who can afford rules, not which posts are false."
OUR 30-SECOND RESPONSE
"The business model matters, and we're not defending it. But profit is earned on true and false posts alike. If the concern is how platforms make money, look at what they do: the ads they sell, the creators they pay, the scams they knowingly carry. That's the platform's own conduct, and the law can reach it. It still doesn't make the platform liable because a user said something false."
THEY MAY COUNTER
"Banks profit from transactions and they're liable for fraud."
OUR FINAL RESPONSE
"Banks are liable for fraud the law defines in advance. Nobody asks a bank to decide whether a customer's claim is true."
QUESTION BACK
"If a platform made no money from a false post, would it stop being responsible for it?"
BEST EVIDENCE
Scam ads a platform knowingly sells are its own commercial conduct, a defined wrong.
WATCH OUT
Don't defend engagement-driven design. Concede the incentive problem; contest the remedy.
Then click ← Menu for the next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P4 · CONSEQUENCES
THEIR STRONGEST VERSION
"Voluntary moderation comes and goes. Meta ended its US fact-checking programme in 2025. Without legal consequences, user safety lasts only until the next strategy change."
OUR 10-SECOND RESPONSE
"Liability does create an incentive: to delete anything disputed, not to get it right."
OUR 30-SECOND RESPONSE
"Platforms already respond to advertisers, users and regulators. What liability adds is lopsided risk: a disputed post is dangerous to leave up and free to take down. So the close calls go to delete. Meta itself estimated one or two in every ten removals may already be mistakes, with no lawsuit pressure. We agree voluntary steps can be reversed. If regulation is needed, process-based duties are a more targeted answer than liability for whether users' statements are true."
THEY MAY COUNTER
"Over-removal of misinformation is a price worth paying."
OUR FINAL RESPONSE
"The mistakes don't only hit false posts. They hit true ones and questions that are still open."
QUESTION BACK
"Under your rule, which mistake costs the platform money: leaving a false post up, or taking a true one down?"
BEST EVIDENCE
Meta's own estimate (January 2025): one to two in every ten removals in December 2024 may have been mistakes. A company estimate under its own policies, not a liability regime.
WATCH OUT
Don't claim 'everything will be censored', and don't claim process duties are proven to work. Acknowledge the fact-checking reversal openly.
Then click ← Menu for the next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P4 · CONSEQUENCES
THEIR STRONGEST VERSION
"Platforms already remove millions of posts every day, and AI keeps getting better at spotting falsehoods. So liability isn't asking for anything impossible, just for them to do properly what they already do."
OUR 10-SECOND RESPONSE
"Moderating under your own rules is different from moderating with a lawsuit over you. Close calls go to delete."
OUR 30-SECOND RESPONSE
"Today a platform can make a judgement call and fix it if it's wrong. Under liability, every close call becomes a legal risk if it stays up, so it comes down. AI doesn't solve that: it learns from what people labelled false before, and new, disputed claims are exactly where it struggles. Better tools are welcome. They don't change who has to decide disputed truth, or which way the incentive pushes."
THEY MAY COUNTER
"Add a good-faith safe harbour so honest mistakes aren't punished."
OUR FINAL RESPONSE
"Then you've designed a process rule, not liability for misinformation. Tell us the process. That's a much narrower debate."
QUESTION BACK
"Under your rule, does removing a true post cost the platform anything?"
BEST EVIDENCE
After Australia made page owners responsible for readers' comments (2021), CNN restricted its Facebook pages there rather than carry the risk.
WATCH OUT
Present over-removal as a pattern, not proof: no study of a misinformation-liability law exists here.
Then click ← Menu for the next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P5 · ALTERNATIVE
THEIR STRONGEST VERSION
"People have died from fake cures. Election lies have undermined trust and sparked violence. Victims are real, and anonymous users can't be sued. If platforms aren't legally accountable, nobody is."
OUR 10-SECOND RESPONSE
"We agree the harm is real. That still doesn't tell us who should be legally liable."
OUR 30-SECOND RESPONSE
"Nobody here disputes the harm; we said so first. But accountability already exists where it fits. The person who lied can be sued, and people have been, for very large amounts. Platforms can be held liable for their own conduct, like harmful design or scams they knowingly carry. Courts can order specific content down. If there's a gap, it's about finding and recovering from speakers, so fix that gap directly, rather than making every platform liable for disputed truth."
THEY MAY COUNTER
"Unmasking anonymous users is slow, and they often can't pay."
OUR FINAL RESPONSE
"Then the gap is identifying and recovering from the speaker. Fix that directly."
QUESTION BACK
"Under your rule, who can sue: the person harmed, or anyone who was misled?"
BEST EVIDENCE
Fox's $787.5M settlement with Dominion (2023): speakers face real consequences for their own falsehoods.
WATCH OUT
Concede the harm first, every time. Never sound dismissive of victims.
Then click ← Menu for the next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P5 · ALTERNATIVE
THEIR STRONGEST VERSION
"Europe already regulates platforms. US juries found against Meta and YouTube this year. Congress has bipartisan bills to sunset Section 230. The world is moving toward platform accountability, and the US is the outlier."
OUR 10-SECOND RESPONSE
"They target illegal content and platforms' own conduct, not the falsity of users' posts."
OUR 30-SECOND RESPONSE
"Look at what those rules actually do. Europe makes hosts act on illegal content once they know about it, and requires the biggest platforms to assess risks in their systems. The verdicts this year were about addictive design and a company's own misleading statements. None of that makes a host liable just because a user's lawful post turns out to be false. That's our line, not theirs."
THEY MAY COUNTER
"Europe's human-rights court allowed a news site to be held liable for readers' comments."
OUR FINAL RESPONSE
"For clearly illegal hate speech and threats. The same court refused liability for merely offensive comments."
QUESTION BACK
"Which of those rules makes a platform liable just because a user's post was false?"
BEST EVIDENCE
1. EU Digital Services Act: hosting exemption unless the host knows of illegal content; systemic-risk duties for very large platforms.
2. March 2026 verdicts: design and Meta's own statements; under appeal.
WATCH OUT
Europe does use knowledge-based liability for illegal content. Never say it doesn't. Section 230 bills are only introduced, not passed.
Then click ← Menu for the next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Rebuttal backdrop (hidden). Leave on screen while a speaker answers without a specific rebuttal slide. Click ← Menu to return.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UR_CASE">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3657600" cy="320040"/>
          </a:xfrm>
          <a:prstGeom prst="rect">
            <a:avLst/>
          </a:prstGeom>
          <a:noFill/>
          <a:ln/>
        </p:spPr>
        <p:txBody>
          <a:bodyPr wrap="square" lIns="0" tIns="0" rIns="0" bIns="0" rtlCol="0" anchor="ctr"/>
          <a:lstStyle/>
          <a:p>
            <a:pPr indent="0" marL="0">
              <a:buNone/>
            </a:pPr>
            <a:r>
              <a:rPr lang="en-US" sz="1100" b="1" spc="200" kern="0" dirty="0">
                <a:solidFill>
                  <a:schemeClr val="accent3"/>
                </a:solidFill>
              </a:rPr>
              <a:t>OUR CASE</a:t>
            </a:r>
            <a:endParaRPr lang="en-US" sz="11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UR_CASE_ARG">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3657600" cy="320040"/>
          </a:xfrm>
          <a:prstGeom prst="rect">
            <a:avLst/>
          </a:prstGeom>
          <a:noFill/>
          <a:ln/>
        </p:spPr>
        <p:txBody>
          <a:bodyPr wrap="square" lIns="0" tIns="0" rIns="0" bIns="0" rtlCol="0" anchor="ctr"/>
          <a:lstStyle/>
          <a:p>
            <a:pPr indent="0" marL="0">
              <a:buNone/>
            </a:pPr>
            <a:r>
              <a:rPr lang="en-US" sz="1100" b="1" spc="200" kern="0" dirty="0">
                <a:solidFill>
                  <a:schemeClr val="accent3"/>
                </a:solidFill>
              </a:rPr>
              <a:t>OUR CASE</a:t>
            </a:r>
            <a:endParaRPr lang="en-US" sz="1100" dirty="0"/>
          </a:p>
        </p:txBody>
      </p:sp>
      <p:sp>
        <p:nvSpPr>
          <p:cNvPr id="3" name="Text 1"/>
          <p:cNvSpPr/>
          <p:nvPr>
            <p:ph idx="101" type="title" hasCustomPrompt="1"/>
          </p:nvPr>
        </p:nvSpPr>
        <p:spPr>
          <a:xfrm>
            <a:off x="731520" y="1051560"/>
            <a:ext cx="10698480" cy="100584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REBUTTAL_MENU">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92608"/>
            <a:ext cx="3657600" cy="320040"/>
          </a:xfrm>
          <a:prstGeom prst="rect">
            <a:avLst/>
          </a:prstGeom>
          <a:noFill/>
          <a:ln/>
        </p:spPr>
        <p:txBody>
          <a:bodyPr wrap="square" lIns="0" tIns="0" rIns="0" bIns="0" rtlCol="0" anchor="ctr"/>
          <a:lstStyle/>
          <a:p>
            <a:pPr indent="0" marL="0">
              <a:buNone/>
            </a:pPr>
            <a:r>
              <a:rPr lang="en-US" sz="1100" b="1" spc="200" kern="0" dirty="0">
                <a:solidFill>
                  <a:schemeClr val="accent2"/>
                </a:solidFill>
              </a:rPr>
              <a:t>THEIR CASE  →  OUR RESPONSE</a:t>
            </a:r>
            <a:endParaRPr lang="en-US" sz="11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REBUTTAL">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286000"/>
            <a:ext cx="10698480" cy="1325880"/>
          </a:xfrm>
          <a:prstGeom prst="rect">
            <a:avLst/>
          </a:prstGeom>
          <a:noFill/>
          <a:ln/>
        </p:spPr>
        <p:txBody>
          <a:bodyPr wrap="square" rtlCol="0"/>
          <a:lstStyle>
            <a:lvl1pPr algn="l" indent="0" marL="0">
              <a:buNone/>
              <a:defRPr lang="en-US" sz="3600" b="1" dirty="0">
                <a:solidFill>
                  <a:schemeClr val="accent1"/>
                </a:solidFill>
              </a:defRPr>
            </a:lvl1pPr>
          </a:lstStyle>
          <a:p>
            <a:pPr algn="l"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10.xml"/><Relationship Id="rId2" Type="http://schemas.openxmlformats.org/officeDocument/2006/relationships/slide" Target="slide11.xml"/><Relationship Id="rId3" Type="http://schemas.openxmlformats.org/officeDocument/2006/relationships/slide" Target="slide12.xml"/><Relationship Id="rId4" Type="http://schemas.openxmlformats.org/officeDocument/2006/relationships/slide" Target="slide13.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6.xml"/><Relationship Id="rId8" Type="http://schemas.openxmlformats.org/officeDocument/2006/relationships/slide" Target="slide17.xml"/><Relationship Id="rId9" Type="http://schemas.openxmlformats.org/officeDocument/2006/relationships/slide" Target="slide18.xml"/><Relationship Id="rId10" Type="http://schemas.openxmlformats.org/officeDocument/2006/relationships/slide" Target="slide19.xml"/><Relationship Id="rId11" Type="http://schemas.openxmlformats.org/officeDocument/2006/relationships/slide" Target="slide2.xml"/><Relationship Id="rId12" Type="http://schemas.openxmlformats.org/officeDocument/2006/relationships/slide" Target="slide8.xml"/><Relationship Id="rId13" Type="http://schemas.openxmlformats.org/officeDocument/2006/relationships/slide" Target="slide20.xml"/><Relationship Id="rId14" Type="http://schemas.openxmlformats.org/officeDocument/2006/relationships/slideLayout" Target="../slideLayouts/slideLayout4.xml"/><Relationship Id="rId1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 Target="slide2.xml"/><Relationship Id="rId3" Type="http://schemas.openxmlformats.org/officeDocument/2006/relationships/slide" Target="slide8.xml"/><Relationship Id="rId4" Type="http://schemas.openxmlformats.org/officeDocument/2006/relationships/slideLayout" Target="../slideLayouts/slideLayout5.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 Target="slide2.xml"/><Relationship Id="rId3" Type="http://schemas.openxmlformats.org/officeDocument/2006/relationships/slide" Target="slide8.xml"/><Relationship Id="rId4" Type="http://schemas.openxmlformats.org/officeDocument/2006/relationships/slideLayout" Target="../slideLayouts/slideLayout5.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 Target="slide2.xml"/><Relationship Id="rId3" Type="http://schemas.openxmlformats.org/officeDocument/2006/relationships/slide" Target="slide8.xml"/><Relationship Id="rId4" Type="http://schemas.openxmlformats.org/officeDocument/2006/relationships/slideLayout" Target="../slideLayouts/slideLayout5.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 Target="slide2.xml"/><Relationship Id="rId3" Type="http://schemas.openxmlformats.org/officeDocument/2006/relationships/slide" Target="slide8.xml"/><Relationship Id="rId4" Type="http://schemas.openxmlformats.org/officeDocument/2006/relationships/slideLayout" Target="../slideLayouts/slideLayout5.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 Target="slide2.xml"/><Relationship Id="rId3" Type="http://schemas.openxmlformats.org/officeDocument/2006/relationships/slide" Target="slide8.xml"/><Relationship Id="rId4" Type="http://schemas.openxmlformats.org/officeDocument/2006/relationships/slideLayout" Target="../slideLayouts/slideLayout5.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 Target="slide2.xml"/><Relationship Id="rId3" Type="http://schemas.openxmlformats.org/officeDocument/2006/relationships/slide" Target="slide8.xml"/><Relationship Id="rId4" Type="http://schemas.openxmlformats.org/officeDocument/2006/relationships/slideLayout" Target="../slideLayouts/slideLayout5.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 Target="slide2.xml"/><Relationship Id="rId3" Type="http://schemas.openxmlformats.org/officeDocument/2006/relationships/slide" Target="slide8.xml"/><Relationship Id="rId4" Type="http://schemas.openxmlformats.org/officeDocument/2006/relationships/slideLayout" Target="../slideLayouts/slideLayout5.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 Target="slide2.xml"/><Relationship Id="rId3" Type="http://schemas.openxmlformats.org/officeDocument/2006/relationships/slide" Target="slide8.xml"/><Relationship Id="rId4" Type="http://schemas.openxmlformats.org/officeDocument/2006/relationships/slideLayout" Target="../slideLayouts/slideLayout5.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 Target="slide2.xml"/><Relationship Id="rId3" Type="http://schemas.openxmlformats.org/officeDocument/2006/relationships/slide" Target="slide8.xml"/><Relationship Id="rId4" Type="http://schemas.openxmlformats.org/officeDocument/2006/relationships/slideLayout" Target="../slideLayouts/slideLayout5.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 Target="slide2.xml"/><Relationship Id="rId3" Type="http://schemas.openxmlformats.org/officeDocument/2006/relationships/slide" Target="slide8.xml"/><Relationship Id="rId4" Type="http://schemas.openxmlformats.org/officeDocument/2006/relationships/slideLayout" Target="../slideLayouts/slideLayout5.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 Target="slide8.xml"/><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Headline"/>
          <p:cNvSpPr txBox="1"/>
          <p:nvPr/>
        </p:nvSpPr>
        <p:spPr>
          <a:xfrm>
            <a:off x="731520" y="1051560"/>
            <a:ext cx="10698480" cy="914400"/>
          </a:xfrm>
          <a:prstGeom prst="rect">
            <a:avLst/>
          </a:prstGeom>
          <a:noFill/>
          <a:ln/>
        </p:spPr>
        <p:txBody>
          <a:bodyPr wrap="square" lIns="0" tIns="0" rIns="0" bIns="0" rtlCol="0" anchor="ctr"/>
          <a:lstStyle/>
          <a:p>
            <a:pPr indent="0" marL="0">
              <a:buNone/>
            </a:pPr>
            <a:r>
              <a:rPr lang="en-US" sz="4800" b="1" dirty="0">
                <a:solidFill>
                  <a:schemeClr val="tx1"/>
                </a:solidFill>
              </a:rPr>
              <a:t>WHO SHOULD BE LEGALLY RESPONSIBLE?</a:t>
            </a:r>
            <a:endParaRPr lang="en-US" sz="4800" dirty="0"/>
          </a:p>
        </p:txBody>
      </p:sp>
      <p:sp>
        <p:nvSpPr>
          <p:cNvPr id="3" name="Step 1"/>
          <p:cNvSpPr/>
          <p:nvPr/>
        </p:nvSpPr>
        <p:spPr>
          <a:xfrm>
            <a:off x="731520" y="2606040"/>
            <a:ext cx="3154680" cy="1417320"/>
          </a:xfrm>
          <a:prstGeom prst="roundRect">
            <a:avLst>
              <a:gd name="adj" fmla="val 5161"/>
            </a:avLst>
          </a:prstGeom>
          <a:solidFill>
            <a:schemeClr val="bg2"/>
          </a:solidFill>
          <a:ln/>
        </p:spPr>
        <p:txBody>
          <a:bodyPr wrap="square" lIns="101600" tIns="101600" rIns="101600" bIns="101600" rtlCol="0" anchor="ctr"/>
          <a:lstStyle/>
          <a:p>
            <a:pPr algn="ctr" indent="0" marL="0">
              <a:buNone/>
            </a:pPr>
            <a:r>
              <a:rPr lang="en-US" sz="2600" b="1" dirty="0">
                <a:solidFill>
                  <a:schemeClr val="tx1"/>
                </a:solidFill>
              </a:rPr>
              <a:t>A user posts</a:t>
            </a:r>
            <a:endParaRPr lang="en-US" sz="2600" dirty="0"/>
          </a:p>
          <a:p>
            <a:pPr algn="ctr" indent="0" marL="0">
              <a:buNone/>
            </a:pPr>
            <a:r>
              <a:rPr lang="en-US" sz="2600" b="1" dirty="0">
                <a:solidFill>
                  <a:schemeClr val="tx1"/>
                </a:solidFill>
              </a:rPr>
              <a:t>something false</a:t>
            </a:r>
            <a:endParaRPr lang="en-US" sz="2600" dirty="0"/>
          </a:p>
        </p:txBody>
      </p:sp>
      <p:sp>
        <p:nvSpPr>
          <p:cNvPr id="4" name="Text 2"/>
          <p:cNvSpPr txBox="1"/>
          <p:nvPr/>
        </p:nvSpPr>
        <p:spPr>
          <a:xfrm>
            <a:off x="3886200" y="2606040"/>
            <a:ext cx="621792" cy="1417320"/>
          </a:xfrm>
          <a:prstGeom prst="rect">
            <a:avLst/>
          </a:prstGeom>
          <a:noFill/>
          <a:ln/>
        </p:spPr>
        <p:txBody>
          <a:bodyPr wrap="square" lIns="0" tIns="0" rIns="0" bIns="0" rtlCol="0" anchor="ctr"/>
          <a:lstStyle/>
          <a:p>
            <a:pPr algn="ctr" indent="0" marL="0">
              <a:buNone/>
            </a:pPr>
            <a:r>
              <a:rPr lang="en-US" sz="3000" dirty="0">
                <a:solidFill>
                  <a:schemeClr val="accent3"/>
                </a:solidFill>
              </a:rPr>
              <a:t>→</a:t>
            </a:r>
            <a:endParaRPr lang="en-US" sz="3000" dirty="0"/>
          </a:p>
        </p:txBody>
      </p:sp>
      <p:sp>
        <p:nvSpPr>
          <p:cNvPr id="5" name="Step 2"/>
          <p:cNvSpPr/>
          <p:nvPr/>
        </p:nvSpPr>
        <p:spPr>
          <a:xfrm>
            <a:off x="4507992" y="2606040"/>
            <a:ext cx="3154680" cy="1417320"/>
          </a:xfrm>
          <a:prstGeom prst="roundRect">
            <a:avLst>
              <a:gd name="adj" fmla="val 5161"/>
            </a:avLst>
          </a:prstGeom>
          <a:solidFill>
            <a:schemeClr val="bg2"/>
          </a:solidFill>
          <a:ln/>
        </p:spPr>
        <p:txBody>
          <a:bodyPr wrap="square" lIns="101600" tIns="101600" rIns="101600" bIns="101600" rtlCol="0" anchor="ctr"/>
          <a:lstStyle/>
          <a:p>
            <a:pPr algn="ctr" indent="0" marL="0">
              <a:buNone/>
            </a:pPr>
            <a:r>
              <a:rPr lang="en-US" sz="2600" b="1" dirty="0">
                <a:solidFill>
                  <a:schemeClr val="tx1"/>
                </a:solidFill>
              </a:rPr>
              <a:t>A platform</a:t>
            </a:r>
            <a:endParaRPr lang="en-US" sz="2600" dirty="0"/>
          </a:p>
          <a:p>
            <a:pPr algn="ctr" indent="0" marL="0">
              <a:buNone/>
            </a:pPr>
            <a:r>
              <a:rPr lang="en-US" sz="2600" b="1" dirty="0">
                <a:solidFill>
                  <a:schemeClr val="tx1"/>
                </a:solidFill>
              </a:rPr>
              <a:t>hosts it</a:t>
            </a:r>
            <a:endParaRPr lang="en-US" sz="2600" dirty="0"/>
          </a:p>
        </p:txBody>
      </p:sp>
      <p:sp>
        <p:nvSpPr>
          <p:cNvPr id="6" name="Text 4"/>
          <p:cNvSpPr txBox="1"/>
          <p:nvPr/>
        </p:nvSpPr>
        <p:spPr>
          <a:xfrm>
            <a:off x="7662672" y="2606040"/>
            <a:ext cx="621792" cy="1417320"/>
          </a:xfrm>
          <a:prstGeom prst="rect">
            <a:avLst/>
          </a:prstGeom>
          <a:noFill/>
          <a:ln/>
        </p:spPr>
        <p:txBody>
          <a:bodyPr wrap="square" lIns="0" tIns="0" rIns="0" bIns="0" rtlCol="0" anchor="ctr"/>
          <a:lstStyle/>
          <a:p>
            <a:pPr algn="ctr" indent="0" marL="0">
              <a:buNone/>
            </a:pPr>
            <a:r>
              <a:rPr lang="en-US" sz="3000" dirty="0">
                <a:solidFill>
                  <a:schemeClr val="accent3"/>
                </a:solidFill>
              </a:rPr>
              <a:t>→</a:t>
            </a:r>
            <a:endParaRPr lang="en-US" sz="3000" dirty="0"/>
          </a:p>
        </p:txBody>
      </p:sp>
      <p:sp>
        <p:nvSpPr>
          <p:cNvPr id="7" name="Step 3"/>
          <p:cNvSpPr/>
          <p:nvPr/>
        </p:nvSpPr>
        <p:spPr>
          <a:xfrm>
            <a:off x="8284464" y="2606040"/>
            <a:ext cx="3154680" cy="1417320"/>
          </a:xfrm>
          <a:prstGeom prst="roundRect">
            <a:avLst>
              <a:gd name="adj" fmla="val 5161"/>
            </a:avLst>
          </a:prstGeom>
          <a:solidFill>
            <a:schemeClr val="accent6"/>
          </a:solidFill>
          <a:ln/>
        </p:spPr>
        <p:txBody>
          <a:bodyPr wrap="square" lIns="101600" tIns="101600" rIns="101600" bIns="101600" rtlCol="0" anchor="ctr"/>
          <a:lstStyle/>
          <a:p>
            <a:pPr algn="ctr" indent="0" marL="0">
              <a:buNone/>
            </a:pPr>
            <a:r>
              <a:rPr lang="en-US" sz="2600" b="1" dirty="0">
                <a:solidFill>
                  <a:schemeClr val="tx1"/>
                </a:solidFill>
              </a:rPr>
              <a:t>Someone</a:t>
            </a:r>
            <a:endParaRPr lang="en-US" sz="2600" dirty="0"/>
          </a:p>
          <a:p>
            <a:pPr algn="ctr" indent="0" marL="0">
              <a:buNone/>
            </a:pPr>
            <a:r>
              <a:rPr lang="en-US" sz="2600" b="1" dirty="0">
                <a:solidFill>
                  <a:schemeClr val="tx1"/>
                </a:solidFill>
              </a:rPr>
              <a:t>is harmed</a:t>
            </a:r>
            <a:endParaRPr lang="en-US" sz="2600" dirty="0"/>
          </a:p>
        </p:txBody>
      </p:sp>
      <p:sp>
        <p:nvSpPr>
          <p:cNvPr id="8" name="Question"/>
          <p:cNvSpPr txBox="1"/>
          <p:nvPr/>
        </p:nvSpPr>
        <p:spPr>
          <a:xfrm>
            <a:off x="731520" y="4709160"/>
            <a:ext cx="10698480" cy="731520"/>
          </a:xfrm>
          <a:prstGeom prst="rect">
            <a:avLst/>
          </a:prstGeom>
          <a:noFill/>
          <a:ln/>
        </p:spPr>
        <p:txBody>
          <a:bodyPr wrap="square" lIns="0" tIns="0" rIns="0" bIns="0" rtlCol="0" anchor="ctr"/>
          <a:lstStyle/>
          <a:p>
            <a:pPr indent="0" marL="0">
              <a:buNone/>
            </a:pPr>
            <a:r>
              <a:rPr lang="en-US" sz="3200" i="1" dirty="0">
                <a:solidFill>
                  <a:schemeClr val="accent1"/>
                </a:solidFill>
              </a:rPr>
              <a:t>When does the platform become legally responsible?</a:t>
            </a:r>
            <a:endParaRPr lang="en-US" sz="3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tatement"/>
          <p:cNvSpPr txBox="1"/>
          <p:nvPr/>
        </p:nvSpPr>
        <p:spPr>
          <a:xfrm>
            <a:off x="731520" y="1097280"/>
            <a:ext cx="10698480" cy="1005840"/>
          </a:xfrm>
          <a:prstGeom prst="rect">
            <a:avLst/>
          </a:prstGeom>
          <a:noFill/>
          <a:ln/>
        </p:spPr>
        <p:txBody>
          <a:bodyPr wrap="square" lIns="0" tIns="0" rIns="0" bIns="0" rtlCol="0" anchor="ctr"/>
          <a:lstStyle/>
          <a:p>
            <a:pPr indent="0" marL="0">
              <a:buNone/>
            </a:pPr>
            <a:r>
              <a:rPr lang="en-US" sz="4200" b="1" dirty="0">
                <a:solidFill>
                  <a:schemeClr val="tx1"/>
                </a:solidFill>
              </a:rPr>
              <a:t>MISINFORMATION CAN CAUSE REAL HARM.</a:t>
            </a:r>
            <a:endParaRPr lang="en-US" sz="4200" dirty="0"/>
          </a:p>
        </p:txBody>
      </p:sp>
      <p:sp>
        <p:nvSpPr>
          <p:cNvPr id="3" name="Gap"/>
          <p:cNvSpPr txBox="1"/>
          <p:nvPr/>
        </p:nvSpPr>
        <p:spPr>
          <a:xfrm>
            <a:off x="731520" y="2286000"/>
            <a:ext cx="10698480" cy="640080"/>
          </a:xfrm>
          <a:prstGeom prst="rect">
            <a:avLst/>
          </a:prstGeom>
          <a:noFill/>
          <a:ln/>
        </p:spPr>
        <p:txBody>
          <a:bodyPr wrap="square" lIns="0" tIns="0" rIns="0" bIns="0" rtlCol="0" anchor="ctr"/>
          <a:lstStyle/>
          <a:p>
            <a:pPr indent="0" marL="0">
              <a:buNone/>
            </a:pPr>
            <a:r>
              <a:rPr lang="en-US" sz="3000" dirty="0">
                <a:solidFill>
                  <a:schemeClr val="accent3"/>
                </a:solidFill>
              </a:rPr>
              <a:t>But harm alone does not answer who should be legally liable.</a:t>
            </a:r>
            <a:endParaRPr lang="en-US" sz="3000" dirty="0"/>
          </a:p>
        </p:txBody>
      </p:sp>
      <p:sp>
        <p:nvSpPr>
          <p:cNvPr id="4" name="Principle"/>
          <p:cNvSpPr/>
          <p:nvPr/>
        </p:nvSpPr>
        <p:spPr>
          <a:xfrm>
            <a:off x="731520" y="3657600"/>
            <a:ext cx="10698480" cy="1828800"/>
          </a:xfrm>
          <a:prstGeom prst="roundRect">
            <a:avLst>
              <a:gd name="adj" fmla="val 4000"/>
            </a:avLst>
          </a:prstGeom>
          <a:solidFill>
            <a:schemeClr val="bg2"/>
          </a:solidFill>
          <a:ln/>
        </p:spPr>
        <p:txBody>
          <a:bodyPr wrap="square" lIns="0" tIns="381000" rIns="381000" bIns="0" rtlCol="0" anchor="ctr"/>
          <a:lstStyle/>
          <a:p>
            <a:pPr indent="0" marL="0">
              <a:buNone/>
            </a:pPr>
            <a:r>
              <a:rPr lang="en-US" sz="3400" dirty="0">
                <a:solidFill>
                  <a:schemeClr val="tx1"/>
                </a:solidFill>
              </a:rPr>
              <a:t>Hold platforms accountable for what </a:t>
            </a:r>
            <a:pPr indent="0" marL="0">
              <a:buNone/>
            </a:pPr>
            <a:r>
              <a:rPr lang="en-US" sz="3400" b="1" dirty="0">
                <a:solidFill>
                  <a:schemeClr val="accent1"/>
                </a:solidFill>
              </a:rPr>
              <a:t>they do</a:t>
            </a:r>
            <a:pPr indent="0" marL="0">
              <a:buNone/>
            </a:pPr>
            <a:r>
              <a:rPr lang="en-US" sz="3400" dirty="0">
                <a:solidFill>
                  <a:schemeClr val="tx1"/>
                </a:solidFill>
              </a:rPr>
              <a:t>,</a:t>
            </a:r>
            <a:endParaRPr lang="en-US" sz="3400" dirty="0"/>
          </a:p>
          <a:p>
            <a:pPr indent="0" marL="0">
              <a:buNone/>
            </a:pPr>
            <a:r>
              <a:rPr lang="en-US" sz="3400" dirty="0">
                <a:solidFill>
                  <a:schemeClr val="tx1"/>
                </a:solidFill>
              </a:rPr>
              <a:t>not simply for what </a:t>
            </a:r>
            <a:pPr indent="0" marL="0">
              <a:buNone/>
            </a:pPr>
            <a:r>
              <a:rPr lang="en-US" sz="3400" b="1" dirty="0">
                <a:solidFill>
                  <a:schemeClr val="accent1"/>
                </a:solidFill>
              </a:rPr>
              <a:t>users say</a:t>
            </a:r>
            <a:pPr indent="0" marL="0">
              <a:buNone/>
            </a:pPr>
            <a:r>
              <a:rPr lang="en-US" sz="3400" dirty="0">
                <a:solidFill>
                  <a:schemeClr val="tx1"/>
                </a:solidFill>
              </a:rPr>
              <a:t>.</a:t>
            </a:r>
            <a:endParaRPr lang="en-US" sz="3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Progress 1"/>
          <p:cNvSpPr/>
          <p:nvPr/>
        </p:nvSpPr>
        <p:spPr>
          <a:xfrm>
            <a:off x="3017520" y="219456"/>
            <a:ext cx="1645920" cy="402336"/>
          </a:xfrm>
          <a:prstGeom prst="roundRect">
            <a:avLst>
              <a:gd name="adj" fmla="val 45455"/>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01 TRIGGER</a:t>
            </a:r>
            <a:endParaRPr lang="en-US" sz="1200" dirty="0"/>
          </a:p>
        </p:txBody>
      </p:sp>
      <p:sp>
        <p:nvSpPr>
          <p:cNvPr id="3" name="Progress 2"/>
          <p:cNvSpPr/>
          <p:nvPr/>
        </p:nvSpPr>
        <p:spPr>
          <a:xfrm>
            <a:off x="4736592" y="219456"/>
            <a:ext cx="1645920" cy="402336"/>
          </a:xfrm>
          <a:prstGeom prst="roundRect">
            <a:avLst>
              <a:gd name="adj" fmla="val 45455"/>
            </a:avLst>
          </a:prstGeom>
          <a:solidFill>
            <a:schemeClr val="bg2"/>
          </a:solidFill>
          <a:ln/>
        </p:spPr>
        <p:txBody>
          <a:bodyPr wrap="square" lIns="0" tIns="0" rIns="0" bIns="0" rtlCol="0" anchor="ctr"/>
          <a:lstStyle/>
          <a:p>
            <a:pPr algn="ctr" indent="0" marL="0">
              <a:buNone/>
            </a:pPr>
            <a:r>
              <a:rPr lang="en-US" sz="1200" b="1" spc="100" kern="0" dirty="0">
                <a:solidFill>
                  <a:schemeClr val="accent3"/>
                </a:solidFill>
              </a:rPr>
              <a:t>02 TRUTH</a:t>
            </a:r>
            <a:endParaRPr lang="en-US" sz="1200" dirty="0"/>
          </a:p>
        </p:txBody>
      </p:sp>
      <p:sp>
        <p:nvSpPr>
          <p:cNvPr id="4" name="Progress 3"/>
          <p:cNvSpPr/>
          <p:nvPr/>
        </p:nvSpPr>
        <p:spPr>
          <a:xfrm>
            <a:off x="6455664" y="219456"/>
            <a:ext cx="1645920" cy="402336"/>
          </a:xfrm>
          <a:prstGeom prst="roundRect">
            <a:avLst>
              <a:gd name="adj" fmla="val 45455"/>
            </a:avLst>
          </a:prstGeom>
          <a:solidFill>
            <a:schemeClr val="bg2"/>
          </a:solidFill>
          <a:ln/>
        </p:spPr>
        <p:txBody>
          <a:bodyPr wrap="square" lIns="0" tIns="0" rIns="0" bIns="0" rtlCol="0" anchor="ctr"/>
          <a:lstStyle/>
          <a:p>
            <a:pPr algn="ctr" indent="0" marL="0">
              <a:buNone/>
            </a:pPr>
            <a:r>
              <a:rPr lang="en-US" sz="1200" b="1" spc="100" kern="0" dirty="0">
                <a:solidFill>
                  <a:schemeClr val="accent3"/>
                </a:solidFill>
              </a:rPr>
              <a:t>03 CONDUCT</a:t>
            </a:r>
            <a:endParaRPr lang="en-US" sz="1200" dirty="0"/>
          </a:p>
        </p:txBody>
      </p:sp>
      <p:sp>
        <p:nvSpPr>
          <p:cNvPr id="5" name="Progress 4"/>
          <p:cNvSpPr/>
          <p:nvPr/>
        </p:nvSpPr>
        <p:spPr>
          <a:xfrm>
            <a:off x="8174736" y="219456"/>
            <a:ext cx="1645920" cy="402336"/>
          </a:xfrm>
          <a:prstGeom prst="roundRect">
            <a:avLst>
              <a:gd name="adj" fmla="val 45455"/>
            </a:avLst>
          </a:prstGeom>
          <a:solidFill>
            <a:schemeClr val="bg2"/>
          </a:solidFill>
          <a:ln/>
        </p:spPr>
        <p:txBody>
          <a:bodyPr wrap="square" lIns="0" tIns="0" rIns="0" bIns="0" rtlCol="0" anchor="ctr"/>
          <a:lstStyle/>
          <a:p>
            <a:pPr algn="ctr" indent="0" marL="0">
              <a:buNone/>
            </a:pPr>
            <a:r>
              <a:rPr lang="en-US" sz="1200" b="1" spc="100" kern="0" dirty="0">
                <a:solidFill>
                  <a:schemeClr val="accent3"/>
                </a:solidFill>
              </a:rPr>
              <a:t>04 CONSEQUENCES</a:t>
            </a:r>
            <a:endParaRPr lang="en-US" sz="1200" dirty="0"/>
          </a:p>
        </p:txBody>
      </p:sp>
      <p:sp>
        <p:nvSpPr>
          <p:cNvPr id="6" name="Progress 5"/>
          <p:cNvSpPr/>
          <p:nvPr/>
        </p:nvSpPr>
        <p:spPr>
          <a:xfrm>
            <a:off x="9893808" y="219456"/>
            <a:ext cx="1645920" cy="402336"/>
          </a:xfrm>
          <a:prstGeom prst="roundRect">
            <a:avLst>
              <a:gd name="adj" fmla="val 45455"/>
            </a:avLst>
          </a:prstGeom>
          <a:solidFill>
            <a:schemeClr val="bg2"/>
          </a:solidFill>
          <a:ln/>
        </p:spPr>
        <p:txBody>
          <a:bodyPr wrap="square" lIns="0" tIns="0" rIns="0" bIns="0" rtlCol="0" anchor="ctr"/>
          <a:lstStyle/>
          <a:p>
            <a:pPr algn="ctr" indent="0" marL="0">
              <a:buNone/>
            </a:pPr>
            <a:r>
              <a:rPr lang="en-US" sz="1200" b="1" spc="100" kern="0" dirty="0">
                <a:solidFill>
                  <a:schemeClr val="accent3"/>
                </a:solidFill>
              </a:rPr>
              <a:t>05 ALTERNATIVE</a:t>
            </a:r>
            <a:endParaRPr lang="en-US" sz="1200" dirty="0"/>
          </a:p>
        </p:txBody>
      </p:sp>
      <p:sp>
        <p:nvSpPr>
          <p:cNvPr id="7" name="Text 1"/>
          <p:cNvSpPr/>
          <p:nvPr>
            <p:ph idx="101" type="title" hasCustomPrompt="1"/>
          </p:nvPr>
        </p:nvSpPr>
        <p:spPr>
          <a:xfrm>
            <a:off x="731520" y="1051560"/>
            <a:ext cx="10698480" cy="1005840"/>
          </a:xfrm>
          <a:prstGeom prst="rect">
            <a:avLst/>
          </a:prstGeom>
          <a:noFill/>
          <a:ln/>
        </p:spPr>
        <p:txBody>
          <a:bodyPr wrap="square" lIns="0" tIns="0" rIns="0" bIns="0" rtlCol="0" anchor="ctr"/>
          <a:lstStyle/>
          <a:p>
            <a:pPr algn="l" indent="0" marL="0">
              <a:buNone/>
            </a:pPr>
            <a:r>
              <a:rPr lang="en-US" sz="4400" b="1" dirty="0">
                <a:solidFill>
                  <a:schemeClr val="tx1"/>
                </a:solidFill>
              </a:rPr>
              <a:t>WHEN DOES LIABILITY BEGIN?</a:t>
            </a:r>
            <a:endParaRPr lang="en-US" sz="4400" dirty="0"/>
          </a:p>
        </p:txBody>
      </p:sp>
      <p:sp>
        <p:nvSpPr>
          <p:cNvPr id="8" name="Cue 1"/>
          <p:cNvSpPr/>
          <p:nvPr/>
        </p:nvSpPr>
        <p:spPr>
          <a:xfrm>
            <a:off x="731520" y="2514600"/>
            <a:ext cx="3154680" cy="1325880"/>
          </a:xfrm>
          <a:prstGeom prst="roundRect">
            <a:avLst>
              <a:gd name="adj" fmla="val 5517"/>
            </a:avLst>
          </a:prstGeom>
          <a:solidFill>
            <a:schemeClr val="bg2"/>
          </a:solidFill>
          <a:ln/>
        </p:spPr>
        <p:txBody>
          <a:bodyPr wrap="square" lIns="101600" tIns="101600" rIns="101600" bIns="101600" rtlCol="0" anchor="ctr"/>
          <a:lstStyle/>
          <a:p>
            <a:pPr algn="ctr" indent="0" marL="0">
              <a:buNone/>
            </a:pPr>
            <a:r>
              <a:rPr lang="en-US" sz="3200" b="1" dirty="0">
                <a:solidFill>
                  <a:schemeClr val="tx1"/>
                </a:solidFill>
              </a:rPr>
              <a:t>False post?</a:t>
            </a:r>
            <a:endParaRPr lang="en-US" sz="3200" dirty="0"/>
          </a:p>
        </p:txBody>
      </p:sp>
      <p:sp>
        <p:nvSpPr>
          <p:cNvPr id="9" name="Text 7"/>
          <p:cNvSpPr txBox="1"/>
          <p:nvPr/>
        </p:nvSpPr>
        <p:spPr>
          <a:xfrm>
            <a:off x="3886200" y="2514600"/>
            <a:ext cx="621792" cy="1325880"/>
          </a:xfrm>
          <a:prstGeom prst="rect">
            <a:avLst/>
          </a:prstGeom>
          <a:noFill/>
          <a:ln/>
        </p:spPr>
        <p:txBody>
          <a:bodyPr wrap="square" lIns="0" tIns="0" rIns="0" bIns="0" rtlCol="0" anchor="ctr"/>
          <a:lstStyle/>
          <a:p>
            <a:pPr algn="ctr" indent="0" marL="0">
              <a:buNone/>
            </a:pPr>
            <a:r>
              <a:rPr lang="en-US" sz="3000" dirty="0">
                <a:solidFill>
                  <a:schemeClr val="accent3"/>
                </a:solidFill>
              </a:rPr>
              <a:t>→</a:t>
            </a:r>
            <a:endParaRPr lang="en-US" sz="3000" dirty="0"/>
          </a:p>
        </p:txBody>
      </p:sp>
      <p:sp>
        <p:nvSpPr>
          <p:cNvPr id="10" name="Cue 2"/>
          <p:cNvSpPr/>
          <p:nvPr/>
        </p:nvSpPr>
        <p:spPr>
          <a:xfrm>
            <a:off x="4507992" y="2514600"/>
            <a:ext cx="3154680" cy="1325880"/>
          </a:xfrm>
          <a:prstGeom prst="roundRect">
            <a:avLst>
              <a:gd name="adj" fmla="val 5517"/>
            </a:avLst>
          </a:prstGeom>
          <a:solidFill>
            <a:schemeClr val="bg2"/>
          </a:solidFill>
          <a:ln/>
        </p:spPr>
        <p:txBody>
          <a:bodyPr wrap="square" lIns="101600" tIns="101600" rIns="101600" bIns="101600" rtlCol="0" anchor="ctr"/>
          <a:lstStyle/>
          <a:p>
            <a:pPr algn="ctr" indent="0" marL="0">
              <a:buNone/>
            </a:pPr>
            <a:r>
              <a:rPr lang="en-US" sz="3200" b="1" dirty="0">
                <a:solidFill>
                  <a:schemeClr val="tx1"/>
                </a:solidFill>
              </a:rPr>
              <a:t>Notice?</a:t>
            </a:r>
            <a:endParaRPr lang="en-US" sz="3200" dirty="0"/>
          </a:p>
        </p:txBody>
      </p:sp>
      <p:sp>
        <p:nvSpPr>
          <p:cNvPr id="11" name="Text 9"/>
          <p:cNvSpPr txBox="1"/>
          <p:nvPr/>
        </p:nvSpPr>
        <p:spPr>
          <a:xfrm>
            <a:off x="7662672" y="2514600"/>
            <a:ext cx="621792" cy="1325880"/>
          </a:xfrm>
          <a:prstGeom prst="rect">
            <a:avLst/>
          </a:prstGeom>
          <a:noFill/>
          <a:ln/>
        </p:spPr>
        <p:txBody>
          <a:bodyPr wrap="square" lIns="0" tIns="0" rIns="0" bIns="0" rtlCol="0" anchor="ctr"/>
          <a:lstStyle/>
          <a:p>
            <a:pPr algn="ctr" indent="0" marL="0">
              <a:buNone/>
            </a:pPr>
            <a:r>
              <a:rPr lang="en-US" sz="3000" dirty="0">
                <a:solidFill>
                  <a:schemeClr val="accent3"/>
                </a:solidFill>
              </a:rPr>
              <a:t>→</a:t>
            </a:r>
            <a:endParaRPr lang="en-US" sz="3000" dirty="0"/>
          </a:p>
        </p:txBody>
      </p:sp>
      <p:sp>
        <p:nvSpPr>
          <p:cNvPr id="12" name="Cue 3"/>
          <p:cNvSpPr/>
          <p:nvPr/>
        </p:nvSpPr>
        <p:spPr>
          <a:xfrm>
            <a:off x="8284464" y="2514600"/>
            <a:ext cx="3154680" cy="1325880"/>
          </a:xfrm>
          <a:prstGeom prst="roundRect">
            <a:avLst>
              <a:gd name="adj" fmla="val 5517"/>
            </a:avLst>
          </a:prstGeom>
          <a:solidFill>
            <a:schemeClr val="bg2"/>
          </a:solidFill>
          <a:ln/>
        </p:spPr>
        <p:txBody>
          <a:bodyPr wrap="square" lIns="101600" tIns="101600" rIns="101600" bIns="101600" rtlCol="0" anchor="ctr"/>
          <a:lstStyle/>
          <a:p>
            <a:pPr algn="ctr" indent="0" marL="0">
              <a:buNone/>
            </a:pPr>
            <a:r>
              <a:rPr lang="en-US" sz="3200" b="1" dirty="0">
                <a:solidFill>
                  <a:schemeClr val="tx1"/>
                </a:solidFill>
              </a:rPr>
              <a:t>Failure to act?</a:t>
            </a:r>
            <a:endParaRPr lang="en-US" sz="3200" dirty="0"/>
          </a:p>
        </p:txBody>
      </p:sp>
      <p:sp>
        <p:nvSpPr>
          <p:cNvPr id="13" name="Takeaway"/>
          <p:cNvSpPr txBox="1"/>
          <p:nvPr/>
        </p:nvSpPr>
        <p:spPr>
          <a:xfrm>
            <a:off x="731520" y="5440680"/>
            <a:ext cx="10698480" cy="548640"/>
          </a:xfrm>
          <a:prstGeom prst="rect">
            <a:avLst/>
          </a:prstGeom>
          <a:noFill/>
          <a:ln/>
        </p:spPr>
        <p:txBody>
          <a:bodyPr wrap="square" lIns="0" tIns="0" rIns="0" bIns="0" rtlCol="0" anchor="ctr"/>
          <a:lstStyle/>
          <a:p>
            <a:pPr indent="0" marL="0">
              <a:buNone/>
            </a:pPr>
            <a:r>
              <a:rPr lang="en-US" sz="2600" i="1" dirty="0">
                <a:solidFill>
                  <a:schemeClr val="accent1"/>
                </a:solidFill>
              </a:rPr>
              <a:t>A legal rule needs a clear trigger.</a:t>
            </a:r>
            <a:endParaRPr lang="en-US"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Progress 1"/>
          <p:cNvSpPr/>
          <p:nvPr/>
        </p:nvSpPr>
        <p:spPr>
          <a:xfrm>
            <a:off x="3017520" y="219456"/>
            <a:ext cx="1645920" cy="402336"/>
          </a:xfrm>
          <a:prstGeom prst="roundRect">
            <a:avLst>
              <a:gd name="adj" fmla="val 45455"/>
            </a:avLst>
          </a:prstGeom>
          <a:solidFill>
            <a:schemeClr val="bg2"/>
          </a:solidFill>
          <a:ln/>
        </p:spPr>
        <p:txBody>
          <a:bodyPr wrap="square" lIns="0" tIns="0" rIns="0" bIns="0" rtlCol="0" anchor="ctr"/>
          <a:lstStyle/>
          <a:p>
            <a:pPr algn="ctr" indent="0" marL="0">
              <a:buNone/>
            </a:pPr>
            <a:r>
              <a:rPr lang="en-US" sz="1200" b="1" spc="100" kern="0" dirty="0">
                <a:solidFill>
                  <a:schemeClr val="accent3"/>
                </a:solidFill>
              </a:rPr>
              <a:t>01 TRIGGER</a:t>
            </a:r>
            <a:endParaRPr lang="en-US" sz="1200" dirty="0"/>
          </a:p>
        </p:txBody>
      </p:sp>
      <p:sp>
        <p:nvSpPr>
          <p:cNvPr id="3" name="Progress 2"/>
          <p:cNvSpPr/>
          <p:nvPr/>
        </p:nvSpPr>
        <p:spPr>
          <a:xfrm>
            <a:off x="4736592" y="219456"/>
            <a:ext cx="1645920" cy="402336"/>
          </a:xfrm>
          <a:prstGeom prst="roundRect">
            <a:avLst>
              <a:gd name="adj" fmla="val 45455"/>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02 TRUTH</a:t>
            </a:r>
            <a:endParaRPr lang="en-US" sz="1200" dirty="0"/>
          </a:p>
        </p:txBody>
      </p:sp>
      <p:sp>
        <p:nvSpPr>
          <p:cNvPr id="4" name="Progress 3"/>
          <p:cNvSpPr/>
          <p:nvPr/>
        </p:nvSpPr>
        <p:spPr>
          <a:xfrm>
            <a:off x="6455664" y="219456"/>
            <a:ext cx="1645920" cy="402336"/>
          </a:xfrm>
          <a:prstGeom prst="roundRect">
            <a:avLst>
              <a:gd name="adj" fmla="val 45455"/>
            </a:avLst>
          </a:prstGeom>
          <a:solidFill>
            <a:schemeClr val="bg2"/>
          </a:solidFill>
          <a:ln/>
        </p:spPr>
        <p:txBody>
          <a:bodyPr wrap="square" lIns="0" tIns="0" rIns="0" bIns="0" rtlCol="0" anchor="ctr"/>
          <a:lstStyle/>
          <a:p>
            <a:pPr algn="ctr" indent="0" marL="0">
              <a:buNone/>
            </a:pPr>
            <a:r>
              <a:rPr lang="en-US" sz="1200" b="1" spc="100" kern="0" dirty="0">
                <a:solidFill>
                  <a:schemeClr val="accent3"/>
                </a:solidFill>
              </a:rPr>
              <a:t>03 CONDUCT</a:t>
            </a:r>
            <a:endParaRPr lang="en-US" sz="1200" dirty="0"/>
          </a:p>
        </p:txBody>
      </p:sp>
      <p:sp>
        <p:nvSpPr>
          <p:cNvPr id="5" name="Progress 4"/>
          <p:cNvSpPr/>
          <p:nvPr/>
        </p:nvSpPr>
        <p:spPr>
          <a:xfrm>
            <a:off x="8174736" y="219456"/>
            <a:ext cx="1645920" cy="402336"/>
          </a:xfrm>
          <a:prstGeom prst="roundRect">
            <a:avLst>
              <a:gd name="adj" fmla="val 45455"/>
            </a:avLst>
          </a:prstGeom>
          <a:solidFill>
            <a:schemeClr val="bg2"/>
          </a:solidFill>
          <a:ln/>
        </p:spPr>
        <p:txBody>
          <a:bodyPr wrap="square" lIns="0" tIns="0" rIns="0" bIns="0" rtlCol="0" anchor="ctr"/>
          <a:lstStyle/>
          <a:p>
            <a:pPr algn="ctr" indent="0" marL="0">
              <a:buNone/>
            </a:pPr>
            <a:r>
              <a:rPr lang="en-US" sz="1200" b="1" spc="100" kern="0" dirty="0">
                <a:solidFill>
                  <a:schemeClr val="accent3"/>
                </a:solidFill>
              </a:rPr>
              <a:t>04 CONSEQUENCES</a:t>
            </a:r>
            <a:endParaRPr lang="en-US" sz="1200" dirty="0"/>
          </a:p>
        </p:txBody>
      </p:sp>
      <p:sp>
        <p:nvSpPr>
          <p:cNvPr id="6" name="Progress 5"/>
          <p:cNvSpPr/>
          <p:nvPr/>
        </p:nvSpPr>
        <p:spPr>
          <a:xfrm>
            <a:off x="9893808" y="219456"/>
            <a:ext cx="1645920" cy="402336"/>
          </a:xfrm>
          <a:prstGeom prst="roundRect">
            <a:avLst>
              <a:gd name="adj" fmla="val 45455"/>
            </a:avLst>
          </a:prstGeom>
          <a:solidFill>
            <a:schemeClr val="bg2"/>
          </a:solidFill>
          <a:ln/>
        </p:spPr>
        <p:txBody>
          <a:bodyPr wrap="square" lIns="0" tIns="0" rIns="0" bIns="0" rtlCol="0" anchor="ctr"/>
          <a:lstStyle/>
          <a:p>
            <a:pPr algn="ctr" indent="0" marL="0">
              <a:buNone/>
            </a:pPr>
            <a:r>
              <a:rPr lang="en-US" sz="1200" b="1" spc="100" kern="0" dirty="0">
                <a:solidFill>
                  <a:schemeClr val="accent3"/>
                </a:solidFill>
              </a:rPr>
              <a:t>05 ALTERNATIVE</a:t>
            </a:r>
            <a:endParaRPr lang="en-US" sz="1200" dirty="0"/>
          </a:p>
        </p:txBody>
      </p:sp>
      <p:sp>
        <p:nvSpPr>
          <p:cNvPr id="7" name="Text 1"/>
          <p:cNvSpPr/>
          <p:nvPr>
            <p:ph idx="101" type="title" hasCustomPrompt="1"/>
          </p:nvPr>
        </p:nvSpPr>
        <p:spPr>
          <a:xfrm>
            <a:off x="731520" y="1051560"/>
            <a:ext cx="10698480" cy="1005840"/>
          </a:xfrm>
          <a:prstGeom prst="rect">
            <a:avLst/>
          </a:prstGeom>
          <a:noFill/>
          <a:ln/>
        </p:spPr>
        <p:txBody>
          <a:bodyPr wrap="square" lIns="0" tIns="0" rIns="0" bIns="0" rtlCol="0" anchor="ctr"/>
          <a:lstStyle/>
          <a:p>
            <a:pPr algn="l" indent="0" marL="0">
              <a:buNone/>
            </a:pPr>
            <a:r>
              <a:rPr lang="en-US" sz="4400" b="1" dirty="0">
                <a:solidFill>
                  <a:schemeClr val="tx1"/>
                </a:solidFill>
              </a:rPr>
              <a:t>WHO DECIDES WHAT IS FALSE?</a:t>
            </a:r>
            <a:endParaRPr lang="en-US" sz="4400" dirty="0"/>
          </a:p>
        </p:txBody>
      </p:sp>
      <p:sp>
        <p:nvSpPr>
          <p:cNvPr id="8" name="Cue 1"/>
          <p:cNvSpPr/>
          <p:nvPr/>
        </p:nvSpPr>
        <p:spPr>
          <a:xfrm>
            <a:off x="731520" y="2377440"/>
            <a:ext cx="3931920" cy="749808"/>
          </a:xfrm>
          <a:prstGeom prst="roundRect">
            <a:avLst>
              <a:gd name="adj" fmla="val 9756"/>
            </a:avLst>
          </a:prstGeom>
          <a:solidFill>
            <a:schemeClr val="bg2"/>
          </a:solidFill>
          <a:ln/>
        </p:spPr>
        <p:txBody>
          <a:bodyPr wrap="square" lIns="101600" tIns="101600" rIns="101600" bIns="101600" rtlCol="0" anchor="ctr"/>
          <a:lstStyle/>
          <a:p>
            <a:pPr algn="l" indent="0" marL="0">
              <a:buNone/>
            </a:pPr>
            <a:r>
              <a:rPr lang="en-US" sz="3000" b="1" dirty="0">
                <a:solidFill>
                  <a:schemeClr val="tx1"/>
                </a:solidFill>
              </a:rPr>
              <a:t>Platform?</a:t>
            </a:r>
            <a:endParaRPr lang="en-US" sz="3000" dirty="0"/>
          </a:p>
        </p:txBody>
      </p:sp>
      <p:sp>
        <p:nvSpPr>
          <p:cNvPr id="9" name="Cue 2"/>
          <p:cNvSpPr/>
          <p:nvPr/>
        </p:nvSpPr>
        <p:spPr>
          <a:xfrm>
            <a:off x="731520" y="3273552"/>
            <a:ext cx="3931920" cy="749808"/>
          </a:xfrm>
          <a:prstGeom prst="roundRect">
            <a:avLst>
              <a:gd name="adj" fmla="val 9756"/>
            </a:avLst>
          </a:prstGeom>
          <a:solidFill>
            <a:schemeClr val="bg2"/>
          </a:solidFill>
          <a:ln/>
        </p:spPr>
        <p:txBody>
          <a:bodyPr wrap="square" lIns="101600" tIns="101600" rIns="101600" bIns="101600" rtlCol="0" anchor="ctr"/>
          <a:lstStyle/>
          <a:p>
            <a:pPr algn="l" indent="0" marL="0">
              <a:buNone/>
            </a:pPr>
            <a:r>
              <a:rPr lang="en-US" sz="3000" b="1" dirty="0">
                <a:solidFill>
                  <a:schemeClr val="tx1"/>
                </a:solidFill>
              </a:rPr>
              <a:t>Experts?</a:t>
            </a:r>
            <a:endParaRPr lang="en-US" sz="3000" dirty="0"/>
          </a:p>
        </p:txBody>
      </p:sp>
      <p:sp>
        <p:nvSpPr>
          <p:cNvPr id="10" name="Cue 3"/>
          <p:cNvSpPr/>
          <p:nvPr/>
        </p:nvSpPr>
        <p:spPr>
          <a:xfrm>
            <a:off x="731520" y="4169664"/>
            <a:ext cx="3931920" cy="749808"/>
          </a:xfrm>
          <a:prstGeom prst="roundRect">
            <a:avLst>
              <a:gd name="adj" fmla="val 9756"/>
            </a:avLst>
          </a:prstGeom>
          <a:solidFill>
            <a:schemeClr val="bg2"/>
          </a:solidFill>
          <a:ln/>
        </p:spPr>
        <p:txBody>
          <a:bodyPr wrap="square" lIns="101600" tIns="101600" rIns="101600" bIns="101600" rtlCol="0" anchor="ctr"/>
          <a:lstStyle/>
          <a:p>
            <a:pPr algn="l" indent="0" marL="0">
              <a:buNone/>
            </a:pPr>
            <a:r>
              <a:rPr lang="en-US" sz="3000" b="1" dirty="0">
                <a:solidFill>
                  <a:schemeClr val="tx1"/>
                </a:solidFill>
              </a:rPr>
              <a:t>Court?</a:t>
            </a:r>
            <a:endParaRPr lang="en-US" sz="3000" dirty="0"/>
          </a:p>
        </p:txBody>
      </p:sp>
      <p:sp>
        <p:nvSpPr>
          <p:cNvPr id="11" name="Disputed"/>
          <p:cNvSpPr txBox="1"/>
          <p:nvPr/>
        </p:nvSpPr>
        <p:spPr>
          <a:xfrm>
            <a:off x="5303520" y="2377440"/>
            <a:ext cx="6126480" cy="2542032"/>
          </a:xfrm>
          <a:prstGeom prst="rect">
            <a:avLst/>
          </a:prstGeom>
          <a:noFill/>
          <a:ln/>
        </p:spPr>
        <p:txBody>
          <a:bodyPr wrap="square" lIns="0" tIns="0" rIns="0" bIns="0" rtlCol="0" anchor="ctr"/>
          <a:lstStyle/>
          <a:p>
            <a:pPr indent="0" marL="0">
              <a:buNone/>
            </a:pPr>
            <a:r>
              <a:rPr lang="en-US" sz="3200" i="1" dirty="0">
                <a:solidFill>
                  <a:schemeClr val="accent3"/>
                </a:solidFill>
              </a:rPr>
              <a:t>And what happens while the facts are still disputed?</a:t>
            </a:r>
            <a:endParaRPr lang="en-US" sz="3200" dirty="0"/>
          </a:p>
        </p:txBody>
      </p:sp>
      <p:sp>
        <p:nvSpPr>
          <p:cNvPr id="12" name="Takeaway"/>
          <p:cNvSpPr txBox="1"/>
          <p:nvPr/>
        </p:nvSpPr>
        <p:spPr>
          <a:xfrm>
            <a:off x="731520" y="5440680"/>
            <a:ext cx="10698480" cy="548640"/>
          </a:xfrm>
          <a:prstGeom prst="rect">
            <a:avLst/>
          </a:prstGeom>
          <a:noFill/>
          <a:ln/>
        </p:spPr>
        <p:txBody>
          <a:bodyPr wrap="square" lIns="0" tIns="0" rIns="0" bIns="0" rtlCol="0" anchor="ctr"/>
          <a:lstStyle/>
          <a:p>
            <a:pPr indent="0" marL="0">
              <a:buNone/>
            </a:pPr>
            <a:r>
              <a:rPr lang="en-US" sz="2600" i="1" dirty="0">
                <a:solidFill>
                  <a:schemeClr val="accent1"/>
                </a:solidFill>
              </a:rPr>
              <a:t>Liability requires someone to make the call.</a:t>
            </a:r>
            <a:endParaRPr lang="en-US" sz="2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Progress 1"/>
          <p:cNvSpPr/>
          <p:nvPr/>
        </p:nvSpPr>
        <p:spPr>
          <a:xfrm>
            <a:off x="3017520" y="219456"/>
            <a:ext cx="1645920" cy="402336"/>
          </a:xfrm>
          <a:prstGeom prst="roundRect">
            <a:avLst>
              <a:gd name="adj" fmla="val 45455"/>
            </a:avLst>
          </a:prstGeom>
          <a:solidFill>
            <a:schemeClr val="bg2"/>
          </a:solidFill>
          <a:ln/>
        </p:spPr>
        <p:txBody>
          <a:bodyPr wrap="square" lIns="0" tIns="0" rIns="0" bIns="0" rtlCol="0" anchor="ctr"/>
          <a:lstStyle/>
          <a:p>
            <a:pPr algn="ctr" indent="0" marL="0">
              <a:buNone/>
            </a:pPr>
            <a:r>
              <a:rPr lang="en-US" sz="1200" b="1" spc="100" kern="0" dirty="0">
                <a:solidFill>
                  <a:schemeClr val="accent3"/>
                </a:solidFill>
              </a:rPr>
              <a:t>01 TRIGGER</a:t>
            </a:r>
            <a:endParaRPr lang="en-US" sz="1200" dirty="0"/>
          </a:p>
        </p:txBody>
      </p:sp>
      <p:sp>
        <p:nvSpPr>
          <p:cNvPr id="3" name="Progress 2"/>
          <p:cNvSpPr/>
          <p:nvPr/>
        </p:nvSpPr>
        <p:spPr>
          <a:xfrm>
            <a:off x="4736592" y="219456"/>
            <a:ext cx="1645920" cy="402336"/>
          </a:xfrm>
          <a:prstGeom prst="roundRect">
            <a:avLst>
              <a:gd name="adj" fmla="val 45455"/>
            </a:avLst>
          </a:prstGeom>
          <a:solidFill>
            <a:schemeClr val="bg2"/>
          </a:solidFill>
          <a:ln/>
        </p:spPr>
        <p:txBody>
          <a:bodyPr wrap="square" lIns="0" tIns="0" rIns="0" bIns="0" rtlCol="0" anchor="ctr"/>
          <a:lstStyle/>
          <a:p>
            <a:pPr algn="ctr" indent="0" marL="0">
              <a:buNone/>
            </a:pPr>
            <a:r>
              <a:rPr lang="en-US" sz="1200" b="1" spc="100" kern="0" dirty="0">
                <a:solidFill>
                  <a:schemeClr val="accent3"/>
                </a:solidFill>
              </a:rPr>
              <a:t>02 TRUTH</a:t>
            </a:r>
            <a:endParaRPr lang="en-US" sz="1200" dirty="0"/>
          </a:p>
        </p:txBody>
      </p:sp>
      <p:sp>
        <p:nvSpPr>
          <p:cNvPr id="4" name="Progress 3"/>
          <p:cNvSpPr/>
          <p:nvPr/>
        </p:nvSpPr>
        <p:spPr>
          <a:xfrm>
            <a:off x="6455664" y="219456"/>
            <a:ext cx="1645920" cy="402336"/>
          </a:xfrm>
          <a:prstGeom prst="roundRect">
            <a:avLst>
              <a:gd name="adj" fmla="val 45455"/>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03 CONDUCT</a:t>
            </a:r>
            <a:endParaRPr lang="en-US" sz="1200" dirty="0"/>
          </a:p>
        </p:txBody>
      </p:sp>
      <p:sp>
        <p:nvSpPr>
          <p:cNvPr id="5" name="Progress 4"/>
          <p:cNvSpPr/>
          <p:nvPr/>
        </p:nvSpPr>
        <p:spPr>
          <a:xfrm>
            <a:off x="8174736" y="219456"/>
            <a:ext cx="1645920" cy="402336"/>
          </a:xfrm>
          <a:prstGeom prst="roundRect">
            <a:avLst>
              <a:gd name="adj" fmla="val 45455"/>
            </a:avLst>
          </a:prstGeom>
          <a:solidFill>
            <a:schemeClr val="bg2"/>
          </a:solidFill>
          <a:ln/>
        </p:spPr>
        <p:txBody>
          <a:bodyPr wrap="square" lIns="0" tIns="0" rIns="0" bIns="0" rtlCol="0" anchor="ctr"/>
          <a:lstStyle/>
          <a:p>
            <a:pPr algn="ctr" indent="0" marL="0">
              <a:buNone/>
            </a:pPr>
            <a:r>
              <a:rPr lang="en-US" sz="1200" b="1" spc="100" kern="0" dirty="0">
                <a:solidFill>
                  <a:schemeClr val="accent3"/>
                </a:solidFill>
              </a:rPr>
              <a:t>04 CONSEQUENCES</a:t>
            </a:r>
            <a:endParaRPr lang="en-US" sz="1200" dirty="0"/>
          </a:p>
        </p:txBody>
      </p:sp>
      <p:sp>
        <p:nvSpPr>
          <p:cNvPr id="6" name="Progress 5"/>
          <p:cNvSpPr/>
          <p:nvPr/>
        </p:nvSpPr>
        <p:spPr>
          <a:xfrm>
            <a:off x="9893808" y="219456"/>
            <a:ext cx="1645920" cy="402336"/>
          </a:xfrm>
          <a:prstGeom prst="roundRect">
            <a:avLst>
              <a:gd name="adj" fmla="val 45455"/>
            </a:avLst>
          </a:prstGeom>
          <a:solidFill>
            <a:schemeClr val="bg2"/>
          </a:solidFill>
          <a:ln/>
        </p:spPr>
        <p:txBody>
          <a:bodyPr wrap="square" lIns="0" tIns="0" rIns="0" bIns="0" rtlCol="0" anchor="ctr"/>
          <a:lstStyle/>
          <a:p>
            <a:pPr algn="ctr" indent="0" marL="0">
              <a:buNone/>
            </a:pPr>
            <a:r>
              <a:rPr lang="en-US" sz="1200" b="1" spc="100" kern="0" dirty="0">
                <a:solidFill>
                  <a:schemeClr val="accent3"/>
                </a:solidFill>
              </a:rPr>
              <a:t>05 ALTERNATIVE</a:t>
            </a:r>
            <a:endParaRPr lang="en-US" sz="1200" dirty="0"/>
          </a:p>
        </p:txBody>
      </p:sp>
      <p:sp>
        <p:nvSpPr>
          <p:cNvPr id="7" name="Text 1"/>
          <p:cNvSpPr/>
          <p:nvPr>
            <p:ph idx="101" type="title" hasCustomPrompt="1"/>
          </p:nvPr>
        </p:nvSpPr>
        <p:spPr>
          <a:xfrm>
            <a:off x="731520" y="1051560"/>
            <a:ext cx="10698480" cy="1005840"/>
          </a:xfrm>
          <a:prstGeom prst="rect">
            <a:avLst/>
          </a:prstGeom>
          <a:noFill/>
          <a:ln/>
        </p:spPr>
        <p:txBody>
          <a:bodyPr wrap="square" lIns="0" tIns="0" rIns="0" bIns="0" rtlCol="0" anchor="ctr"/>
          <a:lstStyle/>
          <a:p>
            <a:pPr algn="l" indent="0" marL="0">
              <a:buNone/>
            </a:pPr>
            <a:r>
              <a:rPr lang="en-US" sz="4400" b="1" dirty="0">
                <a:solidFill>
                  <a:schemeClr val="tx1"/>
                </a:solidFill>
              </a:rPr>
              <a:t>WHAT DID THE PLATFORM ACTUALLY DO?</a:t>
            </a:r>
            <a:endParaRPr lang="en-US" sz="4400" dirty="0"/>
          </a:p>
        </p:txBody>
      </p:sp>
      <p:sp>
        <p:nvSpPr>
          <p:cNvPr id="8" name="Hosted"/>
          <p:cNvSpPr/>
          <p:nvPr/>
        </p:nvSpPr>
        <p:spPr>
          <a:xfrm>
            <a:off x="731520" y="2377440"/>
            <a:ext cx="3154680" cy="1600200"/>
          </a:xfrm>
          <a:prstGeom prst="roundRect">
            <a:avLst>
              <a:gd name="adj" fmla="val 4571"/>
            </a:avLst>
          </a:prstGeom>
          <a:solidFill>
            <a:schemeClr val="bg2"/>
          </a:solidFill>
          <a:ln/>
        </p:spPr>
        <p:txBody>
          <a:bodyPr wrap="square" lIns="101600" tIns="101600" rIns="101600" bIns="101600" rtlCol="0" anchor="ctr"/>
          <a:lstStyle/>
          <a:p>
            <a:pPr algn="ctr" indent="0" marL="0">
              <a:buNone/>
            </a:pPr>
            <a:r>
              <a:rPr lang="en-US" sz="2800" b="1" dirty="0">
                <a:solidFill>
                  <a:schemeClr val="tx1"/>
                </a:solidFill>
              </a:rPr>
              <a:t>HOSTED</a:t>
            </a:r>
            <a:endParaRPr lang="en-US" sz="2800" dirty="0"/>
          </a:p>
        </p:txBody>
      </p:sp>
      <p:sp>
        <p:nvSpPr>
          <p:cNvPr id="9" name="Text 7"/>
          <p:cNvSpPr txBox="1"/>
          <p:nvPr/>
        </p:nvSpPr>
        <p:spPr>
          <a:xfrm>
            <a:off x="3886200" y="2377440"/>
            <a:ext cx="621792" cy="1600200"/>
          </a:xfrm>
          <a:prstGeom prst="rect">
            <a:avLst/>
          </a:prstGeom>
          <a:noFill/>
          <a:ln/>
        </p:spPr>
        <p:txBody>
          <a:bodyPr wrap="square" lIns="0" tIns="0" rIns="0" bIns="0" rtlCol="0" anchor="ctr"/>
          <a:lstStyle/>
          <a:p>
            <a:pPr algn="ctr" indent="0" marL="0">
              <a:buNone/>
            </a:pPr>
            <a:r>
              <a:rPr lang="en-US" sz="3000" dirty="0">
                <a:solidFill>
                  <a:schemeClr val="accent3"/>
                </a:solidFill>
              </a:rPr>
              <a:t>→</a:t>
            </a:r>
            <a:endParaRPr lang="en-US" sz="3000" dirty="0"/>
          </a:p>
        </p:txBody>
      </p:sp>
      <p:sp>
        <p:nvSpPr>
          <p:cNvPr id="10" name="Promoted"/>
          <p:cNvSpPr/>
          <p:nvPr/>
        </p:nvSpPr>
        <p:spPr>
          <a:xfrm>
            <a:off x="4507992" y="2377440"/>
            <a:ext cx="3154680" cy="1600200"/>
          </a:xfrm>
          <a:prstGeom prst="roundRect">
            <a:avLst>
              <a:gd name="adj" fmla="val 4571"/>
            </a:avLst>
          </a:prstGeom>
          <a:solidFill>
            <a:schemeClr val="accent4"/>
          </a:solidFill>
          <a:ln/>
        </p:spPr>
        <p:txBody>
          <a:bodyPr wrap="square" lIns="101600" tIns="101600" rIns="101600" bIns="101600" rtlCol="0" anchor="ctr"/>
          <a:lstStyle/>
          <a:p>
            <a:pPr algn="ctr" indent="0" marL="0">
              <a:buNone/>
            </a:pPr>
            <a:r>
              <a:rPr lang="en-US" sz="2800" b="1" dirty="0">
                <a:solidFill>
                  <a:schemeClr val="tx1"/>
                </a:solidFill>
              </a:rPr>
              <a:t>PROMOTED</a:t>
            </a:r>
            <a:endParaRPr lang="en-US" sz="2800" dirty="0"/>
          </a:p>
        </p:txBody>
      </p:sp>
      <p:sp>
        <p:nvSpPr>
          <p:cNvPr id="11" name="Text 9"/>
          <p:cNvSpPr txBox="1"/>
          <p:nvPr/>
        </p:nvSpPr>
        <p:spPr>
          <a:xfrm>
            <a:off x="7662672" y="2377440"/>
            <a:ext cx="621792" cy="1600200"/>
          </a:xfrm>
          <a:prstGeom prst="rect">
            <a:avLst/>
          </a:prstGeom>
          <a:noFill/>
          <a:ln/>
        </p:spPr>
        <p:txBody>
          <a:bodyPr wrap="square" lIns="0" tIns="0" rIns="0" bIns="0" rtlCol="0" anchor="ctr"/>
          <a:lstStyle/>
          <a:p>
            <a:pPr algn="ctr" indent="0" marL="0">
              <a:buNone/>
            </a:pPr>
            <a:r>
              <a:rPr lang="en-US" sz="3000" dirty="0">
                <a:solidFill>
                  <a:schemeClr val="accent3"/>
                </a:solidFill>
              </a:rPr>
              <a:t>→</a:t>
            </a:r>
            <a:endParaRPr lang="en-US" sz="3000" dirty="0"/>
          </a:p>
        </p:txBody>
      </p:sp>
      <p:sp>
        <p:nvSpPr>
          <p:cNvPr id="12" name="Created"/>
          <p:cNvSpPr/>
          <p:nvPr/>
        </p:nvSpPr>
        <p:spPr>
          <a:xfrm>
            <a:off x="8284464" y="2377440"/>
            <a:ext cx="3154680" cy="1600200"/>
          </a:xfrm>
          <a:prstGeom prst="roundRect">
            <a:avLst>
              <a:gd name="adj" fmla="val 4571"/>
            </a:avLst>
          </a:prstGeom>
          <a:solidFill>
            <a:schemeClr val="accent1"/>
          </a:solidFill>
          <a:ln/>
        </p:spPr>
        <p:txBody>
          <a:bodyPr wrap="square" lIns="101600" tIns="101600" rIns="101600" bIns="101600" rtlCol="0" anchor="ctr"/>
          <a:lstStyle/>
          <a:p>
            <a:pPr algn="ctr" indent="0" marL="0">
              <a:buNone/>
            </a:pPr>
            <a:r>
              <a:rPr lang="en-US" sz="2200" b="1" dirty="0">
                <a:solidFill>
                  <a:schemeClr val="bg1"/>
                </a:solidFill>
              </a:rPr>
              <a:t>CREATED /</a:t>
            </a:r>
            <a:endParaRPr lang="en-US" sz="2200" dirty="0"/>
          </a:p>
          <a:p>
            <a:pPr algn="ctr" indent="0" marL="0">
              <a:buNone/>
            </a:pPr>
            <a:r>
              <a:rPr lang="en-US" sz="2200" b="1" dirty="0">
                <a:solidFill>
                  <a:schemeClr val="bg1"/>
                </a:solidFill>
              </a:rPr>
              <a:t>KNOWINGLY PARTICIPATED</a:t>
            </a:r>
            <a:endParaRPr lang="en-US" sz="2200" dirty="0"/>
          </a:p>
        </p:txBody>
      </p:sp>
      <p:sp>
        <p:nvSpPr>
          <p:cNvPr id="13" name="Question"/>
          <p:cNvSpPr txBox="1"/>
          <p:nvPr/>
        </p:nvSpPr>
        <p:spPr>
          <a:xfrm>
            <a:off x="731520" y="4343400"/>
            <a:ext cx="10698480" cy="640080"/>
          </a:xfrm>
          <a:prstGeom prst="rect">
            <a:avLst/>
          </a:prstGeom>
          <a:noFill/>
          <a:ln/>
        </p:spPr>
        <p:txBody>
          <a:bodyPr wrap="square" lIns="0" tIns="0" rIns="0" bIns="0" rtlCol="0" anchor="ctr"/>
          <a:lstStyle/>
          <a:p>
            <a:pPr indent="0" marL="0">
              <a:buNone/>
            </a:pPr>
            <a:r>
              <a:rPr lang="en-US" sz="3000" dirty="0">
                <a:solidFill>
                  <a:schemeClr val="tx1"/>
                </a:solidFill>
              </a:rPr>
              <a:t>Where does responsibility actually begin?</a:t>
            </a:r>
            <a:endParaRPr lang="en-US" sz="3000" dirty="0"/>
          </a:p>
        </p:txBody>
      </p:sp>
      <p:sp>
        <p:nvSpPr>
          <p:cNvPr id="14" name="Takeaway"/>
          <p:cNvSpPr txBox="1"/>
          <p:nvPr/>
        </p:nvSpPr>
        <p:spPr>
          <a:xfrm>
            <a:off x="731520" y="5440680"/>
            <a:ext cx="10698480" cy="548640"/>
          </a:xfrm>
          <a:prstGeom prst="rect">
            <a:avLst/>
          </a:prstGeom>
          <a:noFill/>
          <a:ln/>
        </p:spPr>
        <p:txBody>
          <a:bodyPr wrap="square" lIns="0" tIns="0" rIns="0" bIns="0" rtlCol="0" anchor="ctr"/>
          <a:lstStyle/>
          <a:p>
            <a:pPr indent="0" marL="0">
              <a:buNone/>
            </a:pPr>
            <a:r>
              <a:rPr lang="en-US" sz="2600" i="1" dirty="0">
                <a:solidFill>
                  <a:schemeClr val="accent1"/>
                </a:solidFill>
              </a:rPr>
              <a:t>Responsibility should follow conduct.</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Progress 1"/>
          <p:cNvSpPr/>
          <p:nvPr/>
        </p:nvSpPr>
        <p:spPr>
          <a:xfrm>
            <a:off x="3017520" y="219456"/>
            <a:ext cx="1645920" cy="402336"/>
          </a:xfrm>
          <a:prstGeom prst="roundRect">
            <a:avLst>
              <a:gd name="adj" fmla="val 45455"/>
            </a:avLst>
          </a:prstGeom>
          <a:solidFill>
            <a:schemeClr val="bg2"/>
          </a:solidFill>
          <a:ln/>
        </p:spPr>
        <p:txBody>
          <a:bodyPr wrap="square" lIns="0" tIns="0" rIns="0" bIns="0" rtlCol="0" anchor="ctr"/>
          <a:lstStyle/>
          <a:p>
            <a:pPr algn="ctr" indent="0" marL="0">
              <a:buNone/>
            </a:pPr>
            <a:r>
              <a:rPr lang="en-US" sz="1200" b="1" spc="100" kern="0" dirty="0">
                <a:solidFill>
                  <a:schemeClr val="accent3"/>
                </a:solidFill>
              </a:rPr>
              <a:t>01 TRIGGER</a:t>
            </a:r>
            <a:endParaRPr lang="en-US" sz="1200" dirty="0"/>
          </a:p>
        </p:txBody>
      </p:sp>
      <p:sp>
        <p:nvSpPr>
          <p:cNvPr id="3" name="Progress 2"/>
          <p:cNvSpPr/>
          <p:nvPr/>
        </p:nvSpPr>
        <p:spPr>
          <a:xfrm>
            <a:off x="4736592" y="219456"/>
            <a:ext cx="1645920" cy="402336"/>
          </a:xfrm>
          <a:prstGeom prst="roundRect">
            <a:avLst>
              <a:gd name="adj" fmla="val 45455"/>
            </a:avLst>
          </a:prstGeom>
          <a:solidFill>
            <a:schemeClr val="bg2"/>
          </a:solidFill>
          <a:ln/>
        </p:spPr>
        <p:txBody>
          <a:bodyPr wrap="square" lIns="0" tIns="0" rIns="0" bIns="0" rtlCol="0" anchor="ctr"/>
          <a:lstStyle/>
          <a:p>
            <a:pPr algn="ctr" indent="0" marL="0">
              <a:buNone/>
            </a:pPr>
            <a:r>
              <a:rPr lang="en-US" sz="1200" b="1" spc="100" kern="0" dirty="0">
                <a:solidFill>
                  <a:schemeClr val="accent3"/>
                </a:solidFill>
              </a:rPr>
              <a:t>02 TRUTH</a:t>
            </a:r>
            <a:endParaRPr lang="en-US" sz="1200" dirty="0"/>
          </a:p>
        </p:txBody>
      </p:sp>
      <p:sp>
        <p:nvSpPr>
          <p:cNvPr id="4" name="Progress 3"/>
          <p:cNvSpPr/>
          <p:nvPr/>
        </p:nvSpPr>
        <p:spPr>
          <a:xfrm>
            <a:off x="6455664" y="219456"/>
            <a:ext cx="1645920" cy="402336"/>
          </a:xfrm>
          <a:prstGeom prst="roundRect">
            <a:avLst>
              <a:gd name="adj" fmla="val 45455"/>
            </a:avLst>
          </a:prstGeom>
          <a:solidFill>
            <a:schemeClr val="bg2"/>
          </a:solidFill>
          <a:ln/>
        </p:spPr>
        <p:txBody>
          <a:bodyPr wrap="square" lIns="0" tIns="0" rIns="0" bIns="0" rtlCol="0" anchor="ctr"/>
          <a:lstStyle/>
          <a:p>
            <a:pPr algn="ctr" indent="0" marL="0">
              <a:buNone/>
            </a:pPr>
            <a:r>
              <a:rPr lang="en-US" sz="1200" b="1" spc="100" kern="0" dirty="0">
                <a:solidFill>
                  <a:schemeClr val="accent3"/>
                </a:solidFill>
              </a:rPr>
              <a:t>03 CONDUCT</a:t>
            </a:r>
            <a:endParaRPr lang="en-US" sz="1200" dirty="0"/>
          </a:p>
        </p:txBody>
      </p:sp>
      <p:sp>
        <p:nvSpPr>
          <p:cNvPr id="5" name="Progress 4"/>
          <p:cNvSpPr/>
          <p:nvPr/>
        </p:nvSpPr>
        <p:spPr>
          <a:xfrm>
            <a:off x="8174736" y="219456"/>
            <a:ext cx="1645920" cy="402336"/>
          </a:xfrm>
          <a:prstGeom prst="roundRect">
            <a:avLst>
              <a:gd name="adj" fmla="val 45455"/>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04 CONSEQUENCES</a:t>
            </a:r>
            <a:endParaRPr lang="en-US" sz="1200" dirty="0"/>
          </a:p>
        </p:txBody>
      </p:sp>
      <p:sp>
        <p:nvSpPr>
          <p:cNvPr id="6" name="Progress 5"/>
          <p:cNvSpPr/>
          <p:nvPr/>
        </p:nvSpPr>
        <p:spPr>
          <a:xfrm>
            <a:off x="9893808" y="219456"/>
            <a:ext cx="1645920" cy="402336"/>
          </a:xfrm>
          <a:prstGeom prst="roundRect">
            <a:avLst>
              <a:gd name="adj" fmla="val 45455"/>
            </a:avLst>
          </a:prstGeom>
          <a:solidFill>
            <a:schemeClr val="bg2"/>
          </a:solidFill>
          <a:ln/>
        </p:spPr>
        <p:txBody>
          <a:bodyPr wrap="square" lIns="0" tIns="0" rIns="0" bIns="0" rtlCol="0" anchor="ctr"/>
          <a:lstStyle/>
          <a:p>
            <a:pPr algn="ctr" indent="0" marL="0">
              <a:buNone/>
            </a:pPr>
            <a:r>
              <a:rPr lang="en-US" sz="1200" b="1" spc="100" kern="0" dirty="0">
                <a:solidFill>
                  <a:schemeClr val="accent3"/>
                </a:solidFill>
              </a:rPr>
              <a:t>05 ALTERNATIVE</a:t>
            </a:r>
            <a:endParaRPr lang="en-US" sz="1200" dirty="0"/>
          </a:p>
        </p:txBody>
      </p:sp>
      <p:sp>
        <p:nvSpPr>
          <p:cNvPr id="7" name="Text 1"/>
          <p:cNvSpPr/>
          <p:nvPr>
            <p:ph idx="101" type="title" hasCustomPrompt="1"/>
          </p:nvPr>
        </p:nvSpPr>
        <p:spPr>
          <a:xfrm>
            <a:off x="731520" y="1051560"/>
            <a:ext cx="10698480" cy="1005840"/>
          </a:xfrm>
          <a:prstGeom prst="rect">
            <a:avLst/>
          </a:prstGeom>
          <a:noFill/>
          <a:ln/>
        </p:spPr>
        <p:txBody>
          <a:bodyPr wrap="square" lIns="0" tIns="0" rIns="0" bIns="0" rtlCol="0" anchor="ctr"/>
          <a:lstStyle/>
          <a:p>
            <a:pPr algn="l" indent="0" marL="0">
              <a:buNone/>
            </a:pPr>
            <a:r>
              <a:rPr lang="en-US" sz="4400" b="1" dirty="0">
                <a:solidFill>
                  <a:schemeClr val="tx1"/>
                </a:solidFill>
              </a:rPr>
              <a:t>WHAT DOES LIABILITY INCENTIVIZE?</a:t>
            </a:r>
            <a:endParaRPr lang="en-US" sz="4400" dirty="0"/>
          </a:p>
        </p:txBody>
      </p:sp>
      <p:sp>
        <p:nvSpPr>
          <p:cNvPr id="8" name="Leave up"/>
          <p:cNvSpPr/>
          <p:nvPr/>
        </p:nvSpPr>
        <p:spPr>
          <a:xfrm>
            <a:off x="731520" y="2377440"/>
            <a:ext cx="5166360" cy="1645920"/>
          </a:xfrm>
          <a:prstGeom prst="roundRect">
            <a:avLst>
              <a:gd name="adj" fmla="val 4444"/>
            </a:avLst>
          </a:prstGeom>
          <a:solidFill>
            <a:schemeClr val="accent6"/>
          </a:solidFill>
          <a:ln/>
        </p:spPr>
        <p:txBody>
          <a:bodyPr wrap="square" lIns="101600" tIns="101600" rIns="101600" bIns="101600" rtlCol="0" anchor="ctr"/>
          <a:lstStyle/>
          <a:p>
            <a:pPr algn="ctr" indent="0" marL="0">
              <a:buNone/>
            </a:pPr>
            <a:r>
              <a:rPr lang="en-US" sz="3200" b="1" dirty="0">
                <a:solidFill>
                  <a:schemeClr val="tx1"/>
                </a:solidFill>
              </a:rPr>
              <a:t>LEAVE IT UP</a:t>
            </a:r>
            <a:endParaRPr lang="en-US" sz="3200" dirty="0"/>
          </a:p>
          <a:p>
            <a:pPr algn="ctr" indent="0" marL="0">
              <a:buNone/>
            </a:pPr>
            <a:r>
              <a:rPr lang="en-US" sz="2600" dirty="0">
                <a:solidFill>
                  <a:schemeClr val="tx1"/>
                </a:solidFill>
              </a:rPr>
              <a:t>→  legal risk</a:t>
            </a:r>
            <a:endParaRPr lang="en-US" sz="3200" dirty="0"/>
          </a:p>
        </p:txBody>
      </p:sp>
      <p:sp>
        <p:nvSpPr>
          <p:cNvPr id="9" name="Remove"/>
          <p:cNvSpPr/>
          <p:nvPr/>
        </p:nvSpPr>
        <p:spPr>
          <a:xfrm>
            <a:off x="6263640" y="2377440"/>
            <a:ext cx="5166360" cy="1645920"/>
          </a:xfrm>
          <a:prstGeom prst="roundRect">
            <a:avLst>
              <a:gd name="adj" fmla="val 4444"/>
            </a:avLst>
          </a:prstGeom>
          <a:solidFill>
            <a:schemeClr val="bg2"/>
          </a:solidFill>
          <a:ln/>
        </p:spPr>
        <p:txBody>
          <a:bodyPr wrap="square" lIns="101600" tIns="101600" rIns="101600" bIns="101600" rtlCol="0" anchor="ctr"/>
          <a:lstStyle/>
          <a:p>
            <a:pPr algn="ctr" indent="0" marL="0">
              <a:buNone/>
            </a:pPr>
            <a:r>
              <a:rPr lang="en-US" sz="3200" b="1" dirty="0">
                <a:solidFill>
                  <a:schemeClr val="tx1"/>
                </a:solidFill>
              </a:rPr>
              <a:t>REMOVE IT</a:t>
            </a:r>
            <a:endParaRPr lang="en-US" sz="3200" dirty="0"/>
          </a:p>
          <a:p>
            <a:pPr algn="ctr" indent="0" marL="0">
              <a:buNone/>
            </a:pPr>
            <a:r>
              <a:rPr lang="en-US" sz="2600" dirty="0">
                <a:solidFill>
                  <a:schemeClr val="tx1"/>
                </a:solidFill>
              </a:rPr>
              <a:t>→  lower legal risk</a:t>
            </a:r>
            <a:endParaRPr lang="en-US" sz="3200" dirty="0"/>
          </a:p>
        </p:txBody>
      </p:sp>
      <p:sp>
        <p:nvSpPr>
          <p:cNvPr id="10" name="Question"/>
          <p:cNvSpPr txBox="1"/>
          <p:nvPr/>
        </p:nvSpPr>
        <p:spPr>
          <a:xfrm>
            <a:off x="731520" y="4343400"/>
            <a:ext cx="10698480" cy="731520"/>
          </a:xfrm>
          <a:prstGeom prst="rect">
            <a:avLst/>
          </a:prstGeom>
          <a:noFill/>
          <a:ln/>
        </p:spPr>
        <p:txBody>
          <a:bodyPr wrap="square" lIns="0" tIns="0" rIns="0" bIns="0" rtlCol="0" anchor="ctr"/>
          <a:lstStyle/>
          <a:p>
            <a:pPr indent="0" marL="0">
              <a:buNone/>
            </a:pPr>
            <a:r>
              <a:rPr lang="en-US" sz="3600" b="1" dirty="0">
                <a:solidFill>
                  <a:schemeClr val="tx1"/>
                </a:solidFill>
              </a:rPr>
              <a:t>What happens to the close calls?</a:t>
            </a:r>
            <a:endParaRPr lang="en-US" sz="3600" dirty="0"/>
          </a:p>
        </p:txBody>
      </p:sp>
      <p:sp>
        <p:nvSpPr>
          <p:cNvPr id="11" name="Takeaway"/>
          <p:cNvSpPr txBox="1"/>
          <p:nvPr/>
        </p:nvSpPr>
        <p:spPr>
          <a:xfrm>
            <a:off x="731520" y="5440680"/>
            <a:ext cx="10698480" cy="548640"/>
          </a:xfrm>
          <a:prstGeom prst="rect">
            <a:avLst/>
          </a:prstGeom>
          <a:noFill/>
          <a:ln/>
        </p:spPr>
        <p:txBody>
          <a:bodyPr wrap="square" lIns="0" tIns="0" rIns="0" bIns="0" rtlCol="0" anchor="ctr"/>
          <a:lstStyle/>
          <a:p>
            <a:pPr indent="0" marL="0">
              <a:buNone/>
            </a:pPr>
            <a:r>
              <a:rPr lang="en-US" sz="2600" i="1" dirty="0">
                <a:solidFill>
                  <a:schemeClr val="accent1"/>
                </a:solidFill>
              </a:rPr>
              <a:t>Legal incentives shape moderation.</a:t>
            </a:r>
            <a:endParaRPr lang="en-US" sz="2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Progress 1"/>
          <p:cNvSpPr/>
          <p:nvPr/>
        </p:nvSpPr>
        <p:spPr>
          <a:xfrm>
            <a:off x="3017520" y="219456"/>
            <a:ext cx="1645920" cy="402336"/>
          </a:xfrm>
          <a:prstGeom prst="roundRect">
            <a:avLst>
              <a:gd name="adj" fmla="val 45455"/>
            </a:avLst>
          </a:prstGeom>
          <a:solidFill>
            <a:schemeClr val="bg2"/>
          </a:solidFill>
          <a:ln/>
        </p:spPr>
        <p:txBody>
          <a:bodyPr wrap="square" lIns="0" tIns="0" rIns="0" bIns="0" rtlCol="0" anchor="ctr"/>
          <a:lstStyle/>
          <a:p>
            <a:pPr algn="ctr" indent="0" marL="0">
              <a:buNone/>
            </a:pPr>
            <a:r>
              <a:rPr lang="en-US" sz="1200" b="1" spc="100" kern="0" dirty="0">
                <a:solidFill>
                  <a:schemeClr val="accent3"/>
                </a:solidFill>
              </a:rPr>
              <a:t>01 TRIGGER</a:t>
            </a:r>
            <a:endParaRPr lang="en-US" sz="1200" dirty="0"/>
          </a:p>
        </p:txBody>
      </p:sp>
      <p:sp>
        <p:nvSpPr>
          <p:cNvPr id="3" name="Progress 2"/>
          <p:cNvSpPr/>
          <p:nvPr/>
        </p:nvSpPr>
        <p:spPr>
          <a:xfrm>
            <a:off x="4736592" y="219456"/>
            <a:ext cx="1645920" cy="402336"/>
          </a:xfrm>
          <a:prstGeom prst="roundRect">
            <a:avLst>
              <a:gd name="adj" fmla="val 45455"/>
            </a:avLst>
          </a:prstGeom>
          <a:solidFill>
            <a:schemeClr val="bg2"/>
          </a:solidFill>
          <a:ln/>
        </p:spPr>
        <p:txBody>
          <a:bodyPr wrap="square" lIns="0" tIns="0" rIns="0" bIns="0" rtlCol="0" anchor="ctr"/>
          <a:lstStyle/>
          <a:p>
            <a:pPr algn="ctr" indent="0" marL="0">
              <a:buNone/>
            </a:pPr>
            <a:r>
              <a:rPr lang="en-US" sz="1200" b="1" spc="100" kern="0" dirty="0">
                <a:solidFill>
                  <a:schemeClr val="accent3"/>
                </a:solidFill>
              </a:rPr>
              <a:t>02 TRUTH</a:t>
            </a:r>
            <a:endParaRPr lang="en-US" sz="1200" dirty="0"/>
          </a:p>
        </p:txBody>
      </p:sp>
      <p:sp>
        <p:nvSpPr>
          <p:cNvPr id="4" name="Progress 3"/>
          <p:cNvSpPr/>
          <p:nvPr/>
        </p:nvSpPr>
        <p:spPr>
          <a:xfrm>
            <a:off x="6455664" y="219456"/>
            <a:ext cx="1645920" cy="402336"/>
          </a:xfrm>
          <a:prstGeom prst="roundRect">
            <a:avLst>
              <a:gd name="adj" fmla="val 45455"/>
            </a:avLst>
          </a:prstGeom>
          <a:solidFill>
            <a:schemeClr val="bg2"/>
          </a:solidFill>
          <a:ln/>
        </p:spPr>
        <p:txBody>
          <a:bodyPr wrap="square" lIns="0" tIns="0" rIns="0" bIns="0" rtlCol="0" anchor="ctr"/>
          <a:lstStyle/>
          <a:p>
            <a:pPr algn="ctr" indent="0" marL="0">
              <a:buNone/>
            </a:pPr>
            <a:r>
              <a:rPr lang="en-US" sz="1200" b="1" spc="100" kern="0" dirty="0">
                <a:solidFill>
                  <a:schemeClr val="accent3"/>
                </a:solidFill>
              </a:rPr>
              <a:t>03 CONDUCT</a:t>
            </a:r>
            <a:endParaRPr lang="en-US" sz="1200" dirty="0"/>
          </a:p>
        </p:txBody>
      </p:sp>
      <p:sp>
        <p:nvSpPr>
          <p:cNvPr id="5" name="Progress 4"/>
          <p:cNvSpPr/>
          <p:nvPr/>
        </p:nvSpPr>
        <p:spPr>
          <a:xfrm>
            <a:off x="8174736" y="219456"/>
            <a:ext cx="1645920" cy="402336"/>
          </a:xfrm>
          <a:prstGeom prst="roundRect">
            <a:avLst>
              <a:gd name="adj" fmla="val 45455"/>
            </a:avLst>
          </a:prstGeom>
          <a:solidFill>
            <a:schemeClr val="bg2"/>
          </a:solidFill>
          <a:ln/>
        </p:spPr>
        <p:txBody>
          <a:bodyPr wrap="square" lIns="0" tIns="0" rIns="0" bIns="0" rtlCol="0" anchor="ctr"/>
          <a:lstStyle/>
          <a:p>
            <a:pPr algn="ctr" indent="0" marL="0">
              <a:buNone/>
            </a:pPr>
            <a:r>
              <a:rPr lang="en-US" sz="1200" b="1" spc="100" kern="0" dirty="0">
                <a:solidFill>
                  <a:schemeClr val="accent3"/>
                </a:solidFill>
              </a:rPr>
              <a:t>04 CONSEQUENCES</a:t>
            </a:r>
            <a:endParaRPr lang="en-US" sz="1200" dirty="0"/>
          </a:p>
        </p:txBody>
      </p:sp>
      <p:sp>
        <p:nvSpPr>
          <p:cNvPr id="6" name="Progress 5"/>
          <p:cNvSpPr/>
          <p:nvPr/>
        </p:nvSpPr>
        <p:spPr>
          <a:xfrm>
            <a:off x="9893808" y="219456"/>
            <a:ext cx="1645920" cy="402336"/>
          </a:xfrm>
          <a:prstGeom prst="roundRect">
            <a:avLst>
              <a:gd name="adj" fmla="val 45455"/>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05 ALTERNATIVE</a:t>
            </a:r>
            <a:endParaRPr lang="en-US" sz="1200" dirty="0"/>
          </a:p>
        </p:txBody>
      </p:sp>
      <p:sp>
        <p:nvSpPr>
          <p:cNvPr id="7" name="Text 1"/>
          <p:cNvSpPr/>
          <p:nvPr>
            <p:ph idx="101" type="title" hasCustomPrompt="1"/>
          </p:nvPr>
        </p:nvSpPr>
        <p:spPr>
          <a:xfrm>
            <a:off x="731520" y="1051560"/>
            <a:ext cx="10698480" cy="1005840"/>
          </a:xfrm>
          <a:prstGeom prst="rect">
            <a:avLst/>
          </a:prstGeom>
          <a:noFill/>
          <a:ln/>
        </p:spPr>
        <p:txBody>
          <a:bodyPr wrap="square" lIns="0" tIns="0" rIns="0" bIns="0" rtlCol="0" anchor="ctr"/>
          <a:lstStyle/>
          <a:p>
            <a:pPr algn="l" indent="0" marL="0">
              <a:buNone/>
            </a:pPr>
            <a:r>
              <a:rPr lang="en-US" sz="4400" b="1" dirty="0">
                <a:solidFill>
                  <a:schemeClr val="tx1"/>
                </a:solidFill>
              </a:rPr>
              <a:t>IS BROAD LIABILITY THE BEST REMEDY?</a:t>
            </a:r>
            <a:endParaRPr lang="en-US" sz="4400" dirty="0"/>
          </a:p>
        </p:txBody>
      </p:sp>
      <p:sp>
        <p:nvSpPr>
          <p:cNvPr id="8" name="Tool 1"/>
          <p:cNvSpPr/>
          <p:nvPr/>
        </p:nvSpPr>
        <p:spPr>
          <a:xfrm>
            <a:off x="731520" y="2331720"/>
            <a:ext cx="3429000" cy="777240"/>
          </a:xfrm>
          <a:prstGeom prst="roundRect">
            <a:avLst>
              <a:gd name="adj" fmla="val 9412"/>
            </a:avLst>
          </a:prstGeom>
          <a:solidFill>
            <a:schemeClr val="bg1"/>
          </a:solidFill>
          <a:ln w="19050">
            <a:solidFill>
              <a:schemeClr val="accent1"/>
            </a:solidFill>
          </a:ln>
        </p:spPr>
        <p:txBody>
          <a:bodyPr wrap="square" lIns="101600" tIns="101600" rIns="101600" bIns="101600" rtlCol="0" anchor="ctr"/>
          <a:lstStyle/>
          <a:p>
            <a:pPr algn="ctr" indent="0" marL="0">
              <a:buNone/>
            </a:pPr>
            <a:r>
              <a:rPr lang="en-US" sz="2400" b="1" dirty="0">
                <a:solidFill>
                  <a:schemeClr val="accent1"/>
                </a:solidFill>
              </a:rPr>
              <a:t>Speaker</a:t>
            </a:r>
            <a:endParaRPr lang="en-US" sz="2400" dirty="0"/>
          </a:p>
        </p:txBody>
      </p:sp>
      <p:sp>
        <p:nvSpPr>
          <p:cNvPr id="9" name="Tool 2"/>
          <p:cNvSpPr/>
          <p:nvPr/>
        </p:nvSpPr>
        <p:spPr>
          <a:xfrm>
            <a:off x="4370832" y="2331720"/>
            <a:ext cx="3429000" cy="777240"/>
          </a:xfrm>
          <a:prstGeom prst="roundRect">
            <a:avLst>
              <a:gd name="adj" fmla="val 9412"/>
            </a:avLst>
          </a:prstGeom>
          <a:solidFill>
            <a:schemeClr val="bg1"/>
          </a:solidFill>
          <a:ln w="19050">
            <a:solidFill>
              <a:schemeClr val="accent1"/>
            </a:solidFill>
          </a:ln>
        </p:spPr>
        <p:txBody>
          <a:bodyPr wrap="square" lIns="101600" tIns="101600" rIns="101600" bIns="101600" rtlCol="0" anchor="ctr"/>
          <a:lstStyle/>
          <a:p>
            <a:pPr algn="ctr" indent="0" marL="0">
              <a:buNone/>
            </a:pPr>
            <a:r>
              <a:rPr lang="en-US" sz="2400" b="1" dirty="0">
                <a:solidFill>
                  <a:schemeClr val="accent1"/>
                </a:solidFill>
              </a:rPr>
              <a:t>Fraud</a:t>
            </a:r>
            <a:endParaRPr lang="en-US" sz="2400" dirty="0"/>
          </a:p>
        </p:txBody>
      </p:sp>
      <p:sp>
        <p:nvSpPr>
          <p:cNvPr id="10" name="Tool 3"/>
          <p:cNvSpPr/>
          <p:nvPr/>
        </p:nvSpPr>
        <p:spPr>
          <a:xfrm>
            <a:off x="8010144" y="2331720"/>
            <a:ext cx="3429000" cy="777240"/>
          </a:xfrm>
          <a:prstGeom prst="roundRect">
            <a:avLst>
              <a:gd name="adj" fmla="val 9412"/>
            </a:avLst>
          </a:prstGeom>
          <a:solidFill>
            <a:schemeClr val="bg1"/>
          </a:solidFill>
          <a:ln w="19050">
            <a:solidFill>
              <a:schemeClr val="accent1"/>
            </a:solidFill>
          </a:ln>
        </p:spPr>
        <p:txBody>
          <a:bodyPr wrap="square" lIns="101600" tIns="101600" rIns="101600" bIns="101600" rtlCol="0" anchor="ctr"/>
          <a:lstStyle/>
          <a:p>
            <a:pPr algn="ctr" indent="0" marL="0">
              <a:buNone/>
            </a:pPr>
            <a:r>
              <a:rPr lang="en-US" sz="2400" b="1" dirty="0">
                <a:solidFill>
                  <a:schemeClr val="accent1"/>
                </a:solidFill>
              </a:rPr>
              <a:t>Scam ads</a:t>
            </a:r>
            <a:endParaRPr lang="en-US" sz="2400" dirty="0"/>
          </a:p>
        </p:txBody>
      </p:sp>
      <p:sp>
        <p:nvSpPr>
          <p:cNvPr id="11" name="Tool 4"/>
          <p:cNvSpPr/>
          <p:nvPr/>
        </p:nvSpPr>
        <p:spPr>
          <a:xfrm>
            <a:off x="731520" y="3291840"/>
            <a:ext cx="3429000" cy="777240"/>
          </a:xfrm>
          <a:prstGeom prst="roundRect">
            <a:avLst>
              <a:gd name="adj" fmla="val 9412"/>
            </a:avLst>
          </a:prstGeom>
          <a:solidFill>
            <a:schemeClr val="bg1"/>
          </a:solidFill>
          <a:ln w="19050">
            <a:solidFill>
              <a:schemeClr val="accent1"/>
            </a:solidFill>
          </a:ln>
        </p:spPr>
        <p:txBody>
          <a:bodyPr wrap="square" lIns="101600" tIns="101600" rIns="101600" bIns="101600" rtlCol="0" anchor="ctr"/>
          <a:lstStyle/>
          <a:p>
            <a:pPr algn="ctr" indent="0" marL="0">
              <a:buNone/>
            </a:pPr>
            <a:r>
              <a:rPr lang="en-US" sz="2400" b="1" dirty="0">
                <a:solidFill>
                  <a:schemeClr val="accent1"/>
                </a:solidFill>
              </a:rPr>
              <a:t>Platform design</a:t>
            </a:r>
            <a:endParaRPr lang="en-US" sz="2400" dirty="0"/>
          </a:p>
        </p:txBody>
      </p:sp>
      <p:sp>
        <p:nvSpPr>
          <p:cNvPr id="12" name="Tool 5"/>
          <p:cNvSpPr/>
          <p:nvPr/>
        </p:nvSpPr>
        <p:spPr>
          <a:xfrm>
            <a:off x="4370832" y="3291840"/>
            <a:ext cx="3429000" cy="777240"/>
          </a:xfrm>
          <a:prstGeom prst="roundRect">
            <a:avLst>
              <a:gd name="adj" fmla="val 9412"/>
            </a:avLst>
          </a:prstGeom>
          <a:solidFill>
            <a:schemeClr val="bg1"/>
          </a:solidFill>
          <a:ln w="19050">
            <a:solidFill>
              <a:schemeClr val="accent1"/>
            </a:solidFill>
          </a:ln>
        </p:spPr>
        <p:txBody>
          <a:bodyPr wrap="square" lIns="101600" tIns="101600" rIns="101600" bIns="101600" rtlCol="0" anchor="ctr"/>
          <a:lstStyle/>
          <a:p>
            <a:pPr algn="ctr" indent="0" marL="0">
              <a:buNone/>
            </a:pPr>
            <a:r>
              <a:rPr lang="en-US" sz="2400" b="1" dirty="0">
                <a:solidFill>
                  <a:schemeClr val="accent1"/>
                </a:solidFill>
              </a:rPr>
              <a:t>Knowing participation</a:t>
            </a:r>
            <a:endParaRPr lang="en-US" sz="2400" dirty="0"/>
          </a:p>
        </p:txBody>
      </p:sp>
      <p:sp>
        <p:nvSpPr>
          <p:cNvPr id="13" name="Tool 6"/>
          <p:cNvSpPr/>
          <p:nvPr/>
        </p:nvSpPr>
        <p:spPr>
          <a:xfrm>
            <a:off x="8010144" y="3291840"/>
            <a:ext cx="3429000" cy="777240"/>
          </a:xfrm>
          <a:prstGeom prst="roundRect">
            <a:avLst>
              <a:gd name="adj" fmla="val 9412"/>
            </a:avLst>
          </a:prstGeom>
          <a:solidFill>
            <a:schemeClr val="bg1"/>
          </a:solidFill>
          <a:ln w="19050">
            <a:solidFill>
              <a:schemeClr val="accent1"/>
            </a:solidFill>
          </a:ln>
        </p:spPr>
        <p:txBody>
          <a:bodyPr wrap="square" lIns="101600" tIns="101600" rIns="101600" bIns="101600" rtlCol="0" anchor="ctr"/>
          <a:lstStyle/>
          <a:p>
            <a:pPr algn="ctr" indent="0" marL="0">
              <a:buNone/>
            </a:pPr>
            <a:r>
              <a:rPr lang="en-US" sz="2400" b="1" dirty="0">
                <a:solidFill>
                  <a:schemeClr val="accent1"/>
                </a:solidFill>
              </a:rPr>
              <a:t>Court orders</a:t>
            </a:r>
            <a:endParaRPr lang="en-US" sz="2400" dirty="0"/>
          </a:p>
        </p:txBody>
      </p:sp>
      <p:sp>
        <p:nvSpPr>
          <p:cNvPr id="14" name="Principle"/>
          <p:cNvSpPr txBox="1"/>
          <p:nvPr/>
        </p:nvSpPr>
        <p:spPr>
          <a:xfrm>
            <a:off x="731520" y="4434840"/>
            <a:ext cx="10698480" cy="731520"/>
          </a:xfrm>
          <a:prstGeom prst="rect">
            <a:avLst/>
          </a:prstGeom>
          <a:noFill/>
          <a:ln/>
        </p:spPr>
        <p:txBody>
          <a:bodyPr wrap="square" lIns="0" tIns="0" rIns="0" bIns="0" rtlCol="0" anchor="ctr"/>
          <a:lstStyle/>
          <a:p>
            <a:pPr indent="0" marL="0">
              <a:buNone/>
            </a:pPr>
            <a:r>
              <a:rPr lang="en-US" sz="3600" b="1" dirty="0">
                <a:solidFill>
                  <a:schemeClr val="tx1"/>
                </a:solidFill>
              </a:rPr>
              <a:t>Target the specific wrong.</a:t>
            </a:r>
            <a:endParaRPr lang="en-US" sz="3600" dirty="0"/>
          </a:p>
        </p:txBody>
      </p:sp>
      <p:sp>
        <p:nvSpPr>
          <p:cNvPr id="15" name="Takeaway"/>
          <p:cNvSpPr txBox="1"/>
          <p:nvPr/>
        </p:nvSpPr>
        <p:spPr>
          <a:xfrm>
            <a:off x="731520" y="5440680"/>
            <a:ext cx="10698480" cy="548640"/>
          </a:xfrm>
          <a:prstGeom prst="rect">
            <a:avLst/>
          </a:prstGeom>
          <a:noFill/>
          <a:ln/>
        </p:spPr>
        <p:txBody>
          <a:bodyPr wrap="square" lIns="0" tIns="0" rIns="0" bIns="0" rtlCol="0" anchor="ctr"/>
          <a:lstStyle/>
          <a:p>
            <a:pPr indent="0" marL="0">
              <a:buNone/>
            </a:pPr>
            <a:r>
              <a:rPr lang="en-US" sz="2600" i="1" dirty="0">
                <a:solidFill>
                  <a:schemeClr val="accent1"/>
                </a:solidFill>
              </a:rPr>
              <a:t>Accountability does not require one universal rule for misinformation.</a:t>
            </a:r>
            <a:endParaRPr lang="en-US" sz="2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tart"/>
          <p:cNvSpPr/>
          <p:nvPr/>
        </p:nvSpPr>
        <p:spPr>
          <a:xfrm>
            <a:off x="731520" y="960120"/>
            <a:ext cx="1920240" cy="685800"/>
          </a:xfrm>
          <a:prstGeom prst="roundRect">
            <a:avLst>
              <a:gd name="adj" fmla="val 10667"/>
            </a:avLst>
          </a:prstGeom>
          <a:solidFill>
            <a:schemeClr val="bg1"/>
          </a:solidFill>
          <a:ln w="19050">
            <a:solidFill>
              <a:schemeClr val="accent2"/>
            </a:solidFill>
          </a:ln>
        </p:spPr>
        <p:txBody>
          <a:bodyPr wrap="square" lIns="25400" tIns="25400" rIns="25400" bIns="25400" rtlCol="0" anchor="ctr"/>
          <a:lstStyle/>
          <a:p>
            <a:pPr algn="ctr" indent="0" marL="0">
              <a:buNone/>
            </a:pPr>
            <a:r>
              <a:rPr lang="en-US" sz="1400" b="1" dirty="0">
                <a:solidFill>
                  <a:schemeClr val="accent2"/>
                </a:solidFill>
              </a:rPr>
              <a:t>FALSE USER POST</a:t>
            </a:r>
            <a:endParaRPr lang="en-US" sz="1400" dirty="0"/>
          </a:p>
        </p:txBody>
      </p:sp>
      <p:sp>
        <p:nvSpPr>
          <p:cNvPr id="3" name="Text 1"/>
          <p:cNvSpPr txBox="1"/>
          <p:nvPr/>
        </p:nvSpPr>
        <p:spPr>
          <a:xfrm>
            <a:off x="2651760" y="960120"/>
            <a:ext cx="201168" cy="685800"/>
          </a:xfrm>
          <a:prstGeom prst="rect">
            <a:avLst/>
          </a:prstGeom>
          <a:noFill/>
          <a:ln/>
        </p:spPr>
        <p:txBody>
          <a:bodyPr wrap="square" lIns="0" tIns="0" rIns="0" bIns="0" rtlCol="0" anchor="ctr"/>
          <a:lstStyle/>
          <a:p>
            <a:pPr algn="ctr" indent="0" marL="0">
              <a:buNone/>
            </a:pPr>
            <a:r>
              <a:rPr lang="en-US" sz="3000" dirty="0">
                <a:solidFill>
                  <a:schemeClr val="accent3"/>
                </a:solidFill>
              </a:rPr>
              <a:t>→</a:t>
            </a:r>
            <a:endParaRPr lang="en-US" sz="3000" dirty="0"/>
          </a:p>
        </p:txBody>
      </p:sp>
      <p:sp>
        <p:nvSpPr>
          <p:cNvPr id="4" name="Link 1"/>
          <p:cNvSpPr/>
          <p:nvPr/>
        </p:nvSpPr>
        <p:spPr>
          <a:xfrm>
            <a:off x="2852928" y="960120"/>
            <a:ext cx="1554480" cy="685800"/>
          </a:xfrm>
          <a:prstGeom prst="roundRect">
            <a:avLst>
              <a:gd name="adj" fmla="val 10667"/>
            </a:avLst>
          </a:prstGeom>
          <a:solidFill>
            <a:schemeClr val="accent1"/>
          </a:solidFill>
          <a:ln/>
        </p:spPr>
        <p:txBody>
          <a:bodyPr wrap="square" lIns="25400" tIns="25400" rIns="25400" bIns="25400" rtlCol="0" anchor="ctr"/>
          <a:lstStyle/>
          <a:p>
            <a:pPr algn="ctr" indent="0" marL="0">
              <a:buNone/>
            </a:pPr>
            <a:r>
              <a:rPr lang="en-US" sz="1300" b="1" dirty="0">
                <a:solidFill>
                  <a:schemeClr val="bg1"/>
                </a:solidFill>
              </a:rPr>
              <a:t>1 TRIGGER</a:t>
            </a:r>
            <a:endParaRPr lang="en-US" sz="1300" dirty="0"/>
          </a:p>
        </p:txBody>
      </p:sp>
      <p:sp>
        <p:nvSpPr>
          <p:cNvPr id="5" name="Text 3"/>
          <p:cNvSpPr txBox="1"/>
          <p:nvPr/>
        </p:nvSpPr>
        <p:spPr>
          <a:xfrm>
            <a:off x="4407408" y="960120"/>
            <a:ext cx="201168" cy="685800"/>
          </a:xfrm>
          <a:prstGeom prst="rect">
            <a:avLst/>
          </a:prstGeom>
          <a:noFill/>
          <a:ln/>
        </p:spPr>
        <p:txBody>
          <a:bodyPr wrap="square" lIns="0" tIns="0" rIns="0" bIns="0" rtlCol="0" anchor="ctr"/>
          <a:lstStyle/>
          <a:p>
            <a:pPr algn="ctr" indent="0" marL="0">
              <a:buNone/>
            </a:pPr>
            <a:r>
              <a:rPr lang="en-US" sz="3000" dirty="0">
                <a:solidFill>
                  <a:schemeClr val="accent3"/>
                </a:solidFill>
              </a:rPr>
              <a:t>→</a:t>
            </a:r>
            <a:endParaRPr lang="en-US" sz="3000" dirty="0"/>
          </a:p>
        </p:txBody>
      </p:sp>
      <p:sp>
        <p:nvSpPr>
          <p:cNvPr id="6" name="Link 2"/>
          <p:cNvSpPr/>
          <p:nvPr/>
        </p:nvSpPr>
        <p:spPr>
          <a:xfrm>
            <a:off x="4608576" y="960120"/>
            <a:ext cx="1554480" cy="685800"/>
          </a:xfrm>
          <a:prstGeom prst="roundRect">
            <a:avLst>
              <a:gd name="adj" fmla="val 10667"/>
            </a:avLst>
          </a:prstGeom>
          <a:solidFill>
            <a:schemeClr val="accent1"/>
          </a:solidFill>
          <a:ln/>
        </p:spPr>
        <p:txBody>
          <a:bodyPr wrap="square" lIns="25400" tIns="25400" rIns="25400" bIns="25400" rtlCol="0" anchor="ctr"/>
          <a:lstStyle/>
          <a:p>
            <a:pPr algn="ctr" indent="0" marL="0">
              <a:buNone/>
            </a:pPr>
            <a:r>
              <a:rPr lang="en-US" sz="1300" b="1" dirty="0">
                <a:solidFill>
                  <a:schemeClr val="bg1"/>
                </a:solidFill>
              </a:rPr>
              <a:t>2 TRUTH</a:t>
            </a:r>
            <a:endParaRPr lang="en-US" sz="1300" dirty="0"/>
          </a:p>
        </p:txBody>
      </p:sp>
      <p:sp>
        <p:nvSpPr>
          <p:cNvPr id="7" name="Text 5"/>
          <p:cNvSpPr txBox="1"/>
          <p:nvPr/>
        </p:nvSpPr>
        <p:spPr>
          <a:xfrm>
            <a:off x="6163056" y="960120"/>
            <a:ext cx="201168" cy="685800"/>
          </a:xfrm>
          <a:prstGeom prst="rect">
            <a:avLst/>
          </a:prstGeom>
          <a:noFill/>
          <a:ln/>
        </p:spPr>
        <p:txBody>
          <a:bodyPr wrap="square" lIns="0" tIns="0" rIns="0" bIns="0" rtlCol="0" anchor="ctr"/>
          <a:lstStyle/>
          <a:p>
            <a:pPr algn="ctr" indent="0" marL="0">
              <a:buNone/>
            </a:pPr>
            <a:r>
              <a:rPr lang="en-US" sz="3000" dirty="0">
                <a:solidFill>
                  <a:schemeClr val="accent3"/>
                </a:solidFill>
              </a:rPr>
              <a:t>→</a:t>
            </a:r>
            <a:endParaRPr lang="en-US" sz="3000" dirty="0"/>
          </a:p>
        </p:txBody>
      </p:sp>
      <p:sp>
        <p:nvSpPr>
          <p:cNvPr id="8" name="Link 3"/>
          <p:cNvSpPr/>
          <p:nvPr/>
        </p:nvSpPr>
        <p:spPr>
          <a:xfrm>
            <a:off x="6364224" y="960120"/>
            <a:ext cx="1554480" cy="685800"/>
          </a:xfrm>
          <a:prstGeom prst="roundRect">
            <a:avLst>
              <a:gd name="adj" fmla="val 10667"/>
            </a:avLst>
          </a:prstGeom>
          <a:solidFill>
            <a:schemeClr val="accent1"/>
          </a:solidFill>
          <a:ln/>
        </p:spPr>
        <p:txBody>
          <a:bodyPr wrap="square" lIns="25400" tIns="25400" rIns="25400" bIns="25400" rtlCol="0" anchor="ctr"/>
          <a:lstStyle/>
          <a:p>
            <a:pPr algn="ctr" indent="0" marL="0">
              <a:buNone/>
            </a:pPr>
            <a:r>
              <a:rPr lang="en-US" sz="1300" b="1" dirty="0">
                <a:solidFill>
                  <a:schemeClr val="bg1"/>
                </a:solidFill>
              </a:rPr>
              <a:t>3 CONDUCT</a:t>
            </a:r>
            <a:endParaRPr lang="en-US" sz="1300" dirty="0"/>
          </a:p>
        </p:txBody>
      </p:sp>
      <p:sp>
        <p:nvSpPr>
          <p:cNvPr id="9" name="Text 7"/>
          <p:cNvSpPr txBox="1"/>
          <p:nvPr/>
        </p:nvSpPr>
        <p:spPr>
          <a:xfrm>
            <a:off x="7918704" y="960120"/>
            <a:ext cx="201168" cy="685800"/>
          </a:xfrm>
          <a:prstGeom prst="rect">
            <a:avLst/>
          </a:prstGeom>
          <a:noFill/>
          <a:ln/>
        </p:spPr>
        <p:txBody>
          <a:bodyPr wrap="square" lIns="0" tIns="0" rIns="0" bIns="0" rtlCol="0" anchor="ctr"/>
          <a:lstStyle/>
          <a:p>
            <a:pPr algn="ctr" indent="0" marL="0">
              <a:buNone/>
            </a:pPr>
            <a:r>
              <a:rPr lang="en-US" sz="3000" dirty="0">
                <a:solidFill>
                  <a:schemeClr val="accent3"/>
                </a:solidFill>
              </a:rPr>
              <a:t>→</a:t>
            </a:r>
            <a:endParaRPr lang="en-US" sz="3000" dirty="0"/>
          </a:p>
        </p:txBody>
      </p:sp>
      <p:sp>
        <p:nvSpPr>
          <p:cNvPr id="10" name="Link 4"/>
          <p:cNvSpPr/>
          <p:nvPr/>
        </p:nvSpPr>
        <p:spPr>
          <a:xfrm>
            <a:off x="8119872" y="960120"/>
            <a:ext cx="1554480" cy="685800"/>
          </a:xfrm>
          <a:prstGeom prst="roundRect">
            <a:avLst>
              <a:gd name="adj" fmla="val 10667"/>
            </a:avLst>
          </a:prstGeom>
          <a:solidFill>
            <a:schemeClr val="accent1"/>
          </a:solidFill>
          <a:ln/>
        </p:spPr>
        <p:txBody>
          <a:bodyPr wrap="square" lIns="25400" tIns="25400" rIns="25400" bIns="25400" rtlCol="0" anchor="ctr"/>
          <a:lstStyle/>
          <a:p>
            <a:pPr algn="ctr" indent="0" marL="0">
              <a:buNone/>
            </a:pPr>
            <a:r>
              <a:rPr lang="en-US" sz="1300" b="1" dirty="0">
                <a:solidFill>
                  <a:schemeClr val="bg1"/>
                </a:solidFill>
              </a:rPr>
              <a:t>4 CONSEQUENCES</a:t>
            </a:r>
            <a:endParaRPr lang="en-US" sz="1300" dirty="0"/>
          </a:p>
        </p:txBody>
      </p:sp>
      <p:sp>
        <p:nvSpPr>
          <p:cNvPr id="11" name="Text 9"/>
          <p:cNvSpPr txBox="1"/>
          <p:nvPr/>
        </p:nvSpPr>
        <p:spPr>
          <a:xfrm>
            <a:off x="9674352" y="960120"/>
            <a:ext cx="201168" cy="685800"/>
          </a:xfrm>
          <a:prstGeom prst="rect">
            <a:avLst/>
          </a:prstGeom>
          <a:noFill/>
          <a:ln/>
        </p:spPr>
        <p:txBody>
          <a:bodyPr wrap="square" lIns="0" tIns="0" rIns="0" bIns="0" rtlCol="0" anchor="ctr"/>
          <a:lstStyle/>
          <a:p>
            <a:pPr algn="ctr" indent="0" marL="0">
              <a:buNone/>
            </a:pPr>
            <a:r>
              <a:rPr lang="en-US" sz="3000" dirty="0">
                <a:solidFill>
                  <a:schemeClr val="accent3"/>
                </a:solidFill>
              </a:rPr>
              <a:t>→</a:t>
            </a:r>
            <a:endParaRPr lang="en-US" sz="3000" dirty="0"/>
          </a:p>
        </p:txBody>
      </p:sp>
      <p:sp>
        <p:nvSpPr>
          <p:cNvPr id="12" name="Link 5"/>
          <p:cNvSpPr/>
          <p:nvPr/>
        </p:nvSpPr>
        <p:spPr>
          <a:xfrm>
            <a:off x="9875520" y="960120"/>
            <a:ext cx="1554480" cy="685800"/>
          </a:xfrm>
          <a:prstGeom prst="roundRect">
            <a:avLst>
              <a:gd name="adj" fmla="val 10667"/>
            </a:avLst>
          </a:prstGeom>
          <a:solidFill>
            <a:schemeClr val="accent1"/>
          </a:solidFill>
          <a:ln/>
        </p:spPr>
        <p:txBody>
          <a:bodyPr wrap="square" lIns="25400" tIns="25400" rIns="25400" bIns="25400" rtlCol="0" anchor="ctr"/>
          <a:lstStyle/>
          <a:p>
            <a:pPr algn="ctr" indent="0" marL="0">
              <a:buNone/>
            </a:pPr>
            <a:r>
              <a:rPr lang="en-US" sz="1300" b="1" dirty="0">
                <a:solidFill>
                  <a:schemeClr val="bg1"/>
                </a:solidFill>
              </a:rPr>
              <a:t>5 ALTERNATIVE</a:t>
            </a:r>
            <a:endParaRPr lang="en-US" sz="1300" dirty="0"/>
          </a:p>
        </p:txBody>
      </p:sp>
      <p:sp>
        <p:nvSpPr>
          <p:cNvPr id="13" name="Test line"/>
          <p:cNvSpPr txBox="1"/>
          <p:nvPr/>
        </p:nvSpPr>
        <p:spPr>
          <a:xfrm>
            <a:off x="731520" y="1874520"/>
            <a:ext cx="10698480" cy="457200"/>
          </a:xfrm>
          <a:prstGeom prst="rect">
            <a:avLst/>
          </a:prstGeom>
          <a:noFill/>
          <a:ln/>
        </p:spPr>
        <p:txBody>
          <a:bodyPr wrap="square" lIns="0" tIns="0" rIns="0" bIns="0" rtlCol="0" anchor="ctr"/>
          <a:lstStyle/>
          <a:p>
            <a:pPr indent="0" marL="0">
              <a:buNone/>
            </a:pPr>
            <a:r>
              <a:rPr lang="en-US" sz="2000" dirty="0">
                <a:solidFill>
                  <a:schemeClr val="accent3"/>
                </a:solidFill>
              </a:rPr>
              <a:t>Before making the platform legally responsible, these five questions need answers.</a:t>
            </a:r>
            <a:endParaRPr lang="en-US" sz="2000" dirty="0"/>
          </a:p>
        </p:txBody>
      </p:sp>
      <p:sp>
        <p:nvSpPr>
          <p:cNvPr id="14" name="Closing"/>
          <p:cNvSpPr txBox="1"/>
          <p:nvPr/>
        </p:nvSpPr>
        <p:spPr>
          <a:xfrm>
            <a:off x="731520" y="2651760"/>
            <a:ext cx="10698480" cy="3291840"/>
          </a:xfrm>
          <a:prstGeom prst="rect">
            <a:avLst/>
          </a:prstGeom>
          <a:noFill/>
          <a:ln/>
        </p:spPr>
        <p:txBody>
          <a:bodyPr wrap="square" lIns="0" tIns="0" rIns="0" bIns="0" rtlCol="0" anchor="ctr"/>
          <a:lstStyle/>
          <a:p>
            <a:pPr indent="0" marL="0">
              <a:lnSpc>
                <a:spcPct val="95000"/>
              </a:lnSpc>
              <a:buNone/>
            </a:pPr>
            <a:r>
              <a:rPr lang="en-US" sz="4800" b="1" dirty="0">
                <a:solidFill>
                  <a:schemeClr val="tx1"/>
                </a:solidFill>
              </a:rPr>
              <a:t>HOLD PLATFORMS ACCOUNTABLE</a:t>
            </a:r>
            <a:endParaRPr lang="en-US" sz="4800" dirty="0"/>
          </a:p>
          <a:p>
            <a:pPr indent="0" marL="0">
              <a:lnSpc>
                <a:spcPct val="95000"/>
              </a:lnSpc>
              <a:buNone/>
            </a:pPr>
            <a:r>
              <a:rPr lang="en-US" sz="4800" b="1" dirty="0">
                <a:solidFill>
                  <a:schemeClr val="tx1"/>
                </a:solidFill>
              </a:rPr>
              <a:t>FOR WHAT THEY DO,</a:t>
            </a:r>
            <a:endParaRPr lang="en-US" sz="4800" dirty="0"/>
          </a:p>
          <a:p>
            <a:pPr indent="0" marL="0">
              <a:lnSpc>
                <a:spcPct val="95000"/>
              </a:lnSpc>
              <a:buNone/>
            </a:pPr>
            <a:r>
              <a:rPr lang="en-US" sz="4800" b="1" dirty="0">
                <a:solidFill>
                  <a:schemeClr val="tx1"/>
                </a:solidFill>
              </a:rPr>
              <a:t>NOT FOR EVERY FALSE THING</a:t>
            </a:r>
            <a:endParaRPr lang="en-US" sz="4800" dirty="0"/>
          </a:p>
          <a:p>
            <a:pPr indent="0" marL="0">
              <a:lnSpc>
                <a:spcPct val="95000"/>
              </a:lnSpc>
              <a:buNone/>
            </a:pPr>
            <a:r>
              <a:rPr lang="en-US" sz="4800" b="1" dirty="0">
                <a:solidFill>
                  <a:schemeClr val="tx1"/>
                </a:solidFill>
              </a:rPr>
              <a:t>THEIR USERS SAY.</a:t>
            </a:r>
            <a:endParaRPr lang="en-US" sz="4800" dirty="0"/>
          </a:p>
        </p:txBody>
      </p:sp>
      <p:sp>
        <p:nvSpPr>
          <p:cNvPr id="15" name="Nav Argument menu ›">
            <a:hlinkClick r:id="rId1" tooltip="Argument menu ›" action="ppaction://hlinksldjump"/>
          </p:cNvPr>
          <p:cNvSpPr txBox="1"/>
          <p:nvPr/>
        </p:nvSpPr>
        <p:spPr>
          <a:xfrm>
            <a:off x="1004011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Argument menu ›</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name="Slide 9">
    <p:spTree>
      <p:nvGrpSpPr>
        <p:cNvPr id="1" name=""/>
        <p:cNvGrpSpPr/>
        <p:nvPr/>
      </p:nvGrpSpPr>
      <p:grpSpPr>
        <a:xfrm>
          <a:off x="0" y="0"/>
          <a:ext cx="0" cy="0"/>
          <a:chOff x="0" y="0"/>
          <a:chExt cx="0" cy="0"/>
        </a:xfrm>
      </p:grpSpPr>
      <p:sp>
        <p:nvSpPr>
          <p:cNvPr id="2" name="Menu title"/>
          <p:cNvSpPr txBox="1"/>
          <p:nvPr/>
        </p:nvSpPr>
        <p:spPr>
          <a:xfrm>
            <a:off x="731520" y="777240"/>
            <a:ext cx="10698480" cy="822960"/>
          </a:xfrm>
          <a:prstGeom prst="rect">
            <a:avLst/>
          </a:prstGeom>
          <a:noFill/>
          <a:ln/>
        </p:spPr>
        <p:txBody>
          <a:bodyPr wrap="square" lIns="0" tIns="0" rIns="0" bIns="0" rtlCol="0" anchor="ctr"/>
          <a:lstStyle/>
          <a:p>
            <a:pPr indent="0" marL="0">
              <a:buNone/>
            </a:pPr>
            <a:r>
              <a:rPr lang="en-US" sz="4400" b="1" dirty="0">
                <a:solidFill>
                  <a:schemeClr val="tx1"/>
                </a:solidFill>
              </a:rPr>
              <a:t>WHAT'S THEIR ARGUMENT?</a:t>
            </a:r>
            <a:endParaRPr lang="en-US" sz="4400" dirty="0"/>
          </a:p>
        </p:txBody>
      </p:sp>
      <p:sp>
        <p:nvSpPr>
          <p:cNvPr id="3" name="Owner 1"/>
          <p:cNvSpPr txBox="1"/>
          <p:nvPr/>
        </p:nvSpPr>
        <p:spPr>
          <a:xfrm>
            <a:off x="731520" y="1828800"/>
            <a:ext cx="2029968" cy="365760"/>
          </a:xfrm>
          <a:prstGeom prst="rect">
            <a:avLst/>
          </a:prstGeom>
          <a:noFill/>
          <a:ln/>
        </p:spPr>
        <p:txBody>
          <a:bodyPr wrap="square" lIns="0" tIns="0" rIns="0" bIns="0" rtlCol="0" anchor="ctr"/>
          <a:lstStyle/>
          <a:p>
            <a:pPr algn="ctr" indent="0" marL="0">
              <a:buNone/>
            </a:pPr>
            <a:r>
              <a:rPr lang="en-US" sz="1300" b="1" spc="100" kern="0" dirty="0">
                <a:solidFill>
                  <a:schemeClr val="accent1"/>
                </a:solidFill>
              </a:rPr>
              <a:t>P1 · TRIGGER</a:t>
            </a:r>
            <a:endParaRPr lang="en-US" sz="1300" dirty="0"/>
          </a:p>
        </p:txBody>
      </p:sp>
      <p:sp>
        <p:nvSpPr>
          <p:cNvPr id="4" name="Tile DUTY OF CARE">
            <a:hlinkClick r:id="rId1" tooltip="DUTY OF CARE" action="ppaction://hlinksldjump"/>
          </p:cNvPr>
          <p:cNvSpPr/>
          <p:nvPr/>
        </p:nvSpPr>
        <p:spPr>
          <a:xfrm>
            <a:off x="731520" y="2286000"/>
            <a:ext cx="2029968" cy="1600200"/>
          </a:xfrm>
          <a:prstGeom prst="roundRect">
            <a:avLst>
              <a:gd name="adj" fmla="val 4571"/>
            </a:avLst>
          </a:prstGeom>
          <a:solidFill>
            <a:schemeClr val="bg1"/>
          </a:solidFill>
          <a:ln w="25400">
            <a:solidFill>
              <a:schemeClr val="accent1"/>
            </a:solidFill>
          </a:ln>
        </p:spPr>
        <p:txBody>
          <a:bodyPr wrap="square" lIns="101600" tIns="101600" rIns="101600" bIns="101600" rtlCol="0" anchor="ctr"/>
          <a:lstStyle/>
          <a:p>
            <a:pPr algn="ctr" indent="0" marL="0">
              <a:buNone/>
            </a:pPr>
            <a:r>
              <a:rPr lang="en-US" sz="2200" b="1" dirty="0">
                <a:solidFill>
                  <a:schemeClr val="tx1"/>
                </a:solidFill>
              </a:rPr>
              <a:t>DUTY OF</a:t>
            </a:r>
            <a:endParaRPr lang="en-US" sz="2200" dirty="0"/>
          </a:p>
          <a:p>
            <a:pPr algn="ctr" indent="0" marL="0">
              <a:buNone/>
            </a:pPr>
            <a:r>
              <a:rPr lang="en-US" sz="2200" b="1" dirty="0">
                <a:solidFill>
                  <a:schemeClr val="tx1"/>
                </a:solidFill>
              </a:rPr>
              <a:t>CARE</a:t>
            </a:r>
            <a:endParaRPr lang="en-US" sz="2200" dirty="0"/>
          </a:p>
        </p:txBody>
      </p:sp>
      <p:sp>
        <p:nvSpPr>
          <p:cNvPr id="5" name="Tile PUBLISHERS">
            <a:hlinkClick r:id="rId2" tooltip="PUBLISHERS" action="ppaction://hlinksldjump"/>
          </p:cNvPr>
          <p:cNvSpPr/>
          <p:nvPr/>
        </p:nvSpPr>
        <p:spPr>
          <a:xfrm>
            <a:off x="731520" y="4069080"/>
            <a:ext cx="2029968" cy="1600200"/>
          </a:xfrm>
          <a:prstGeom prst="roundRect">
            <a:avLst>
              <a:gd name="adj" fmla="val 4571"/>
            </a:avLst>
          </a:prstGeom>
          <a:solidFill>
            <a:schemeClr val="bg1"/>
          </a:solidFill>
          <a:ln w="25400">
            <a:solidFill>
              <a:schemeClr val="accent1"/>
            </a:solidFill>
          </a:ln>
        </p:spPr>
        <p:txBody>
          <a:bodyPr wrap="square" lIns="101600" tIns="101600" rIns="101600" bIns="101600" rtlCol="0" anchor="ctr"/>
          <a:lstStyle/>
          <a:p>
            <a:pPr algn="ctr" indent="0" marL="0">
              <a:buNone/>
            </a:pPr>
            <a:r>
              <a:rPr lang="en-US" sz="2200" b="1" dirty="0">
                <a:solidFill>
                  <a:schemeClr val="tx1"/>
                </a:solidFill>
              </a:rPr>
              <a:t>PUBLISHERS</a:t>
            </a:r>
            <a:endParaRPr lang="en-US" sz="2200" dirty="0"/>
          </a:p>
        </p:txBody>
      </p:sp>
      <p:sp>
        <p:nvSpPr>
          <p:cNvPr id="6" name="Owner 2"/>
          <p:cNvSpPr txBox="1"/>
          <p:nvPr/>
        </p:nvSpPr>
        <p:spPr>
          <a:xfrm>
            <a:off x="2898648" y="1828800"/>
            <a:ext cx="2029968" cy="365760"/>
          </a:xfrm>
          <a:prstGeom prst="rect">
            <a:avLst/>
          </a:prstGeom>
          <a:noFill/>
          <a:ln/>
        </p:spPr>
        <p:txBody>
          <a:bodyPr wrap="square" lIns="0" tIns="0" rIns="0" bIns="0" rtlCol="0" anchor="ctr"/>
          <a:lstStyle/>
          <a:p>
            <a:pPr algn="ctr" indent="0" marL="0">
              <a:buNone/>
            </a:pPr>
            <a:r>
              <a:rPr lang="en-US" sz="1300" b="1" spc="100" kern="0" dirty="0">
                <a:solidFill>
                  <a:schemeClr val="accent1"/>
                </a:solidFill>
              </a:rPr>
              <a:t>P2 · TRUTH</a:t>
            </a:r>
            <a:endParaRPr lang="en-US" sz="1300" dirty="0"/>
          </a:p>
        </p:txBody>
      </p:sp>
      <p:sp>
        <p:nvSpPr>
          <p:cNvPr id="7" name="Tile THEY KNEW">
            <a:hlinkClick r:id="rId3" tooltip="THEY KNEW" action="ppaction://hlinksldjump"/>
          </p:cNvPr>
          <p:cNvSpPr/>
          <p:nvPr/>
        </p:nvSpPr>
        <p:spPr>
          <a:xfrm>
            <a:off x="2898648" y="2286000"/>
            <a:ext cx="2029968" cy="1600200"/>
          </a:xfrm>
          <a:prstGeom prst="roundRect">
            <a:avLst>
              <a:gd name="adj" fmla="val 4571"/>
            </a:avLst>
          </a:prstGeom>
          <a:solidFill>
            <a:schemeClr val="bg1"/>
          </a:solidFill>
          <a:ln w="25400">
            <a:solidFill>
              <a:schemeClr val="accent1"/>
            </a:solidFill>
          </a:ln>
        </p:spPr>
        <p:txBody>
          <a:bodyPr wrap="square" lIns="101600" tIns="101600" rIns="101600" bIns="101600" rtlCol="0" anchor="ctr"/>
          <a:lstStyle/>
          <a:p>
            <a:pPr algn="ctr" indent="0" marL="0">
              <a:buNone/>
            </a:pPr>
            <a:r>
              <a:rPr lang="en-US" sz="2200" b="1" dirty="0">
                <a:solidFill>
                  <a:schemeClr val="tx1"/>
                </a:solidFill>
              </a:rPr>
              <a:t>THEY</a:t>
            </a:r>
            <a:endParaRPr lang="en-US" sz="2200" dirty="0"/>
          </a:p>
          <a:p>
            <a:pPr algn="ctr" indent="0" marL="0">
              <a:buNone/>
            </a:pPr>
            <a:r>
              <a:rPr lang="en-US" sz="2200" b="1" dirty="0">
                <a:solidFill>
                  <a:schemeClr val="tx1"/>
                </a:solidFill>
              </a:rPr>
              <a:t>KNEW</a:t>
            </a:r>
            <a:endParaRPr lang="en-US" sz="2200" dirty="0"/>
          </a:p>
        </p:txBody>
      </p:sp>
      <p:sp>
        <p:nvSpPr>
          <p:cNvPr id="8" name="Tile CLEARLY FALSE">
            <a:hlinkClick r:id="rId4" tooltip="CLEARLY FALSE" action="ppaction://hlinksldjump"/>
          </p:cNvPr>
          <p:cNvSpPr/>
          <p:nvPr/>
        </p:nvSpPr>
        <p:spPr>
          <a:xfrm>
            <a:off x="2898648" y="4069080"/>
            <a:ext cx="2029968" cy="1600200"/>
          </a:xfrm>
          <a:prstGeom prst="roundRect">
            <a:avLst>
              <a:gd name="adj" fmla="val 4571"/>
            </a:avLst>
          </a:prstGeom>
          <a:solidFill>
            <a:schemeClr val="bg1"/>
          </a:solidFill>
          <a:ln w="25400">
            <a:solidFill>
              <a:schemeClr val="accent1"/>
            </a:solidFill>
          </a:ln>
        </p:spPr>
        <p:txBody>
          <a:bodyPr wrap="square" lIns="101600" tIns="101600" rIns="101600" bIns="101600" rtlCol="0" anchor="ctr"/>
          <a:lstStyle/>
          <a:p>
            <a:pPr algn="ctr" indent="0" marL="0">
              <a:buNone/>
            </a:pPr>
            <a:r>
              <a:rPr lang="en-US" sz="2200" b="1" dirty="0">
                <a:solidFill>
                  <a:schemeClr val="tx1"/>
                </a:solidFill>
              </a:rPr>
              <a:t>CLEARLY</a:t>
            </a:r>
            <a:endParaRPr lang="en-US" sz="2200" dirty="0"/>
          </a:p>
          <a:p>
            <a:pPr algn="ctr" indent="0" marL="0">
              <a:buNone/>
            </a:pPr>
            <a:r>
              <a:rPr lang="en-US" sz="2200" b="1" dirty="0">
                <a:solidFill>
                  <a:schemeClr val="tx1"/>
                </a:solidFill>
              </a:rPr>
              <a:t>FALSE</a:t>
            </a:r>
            <a:endParaRPr lang="en-US" sz="2200" dirty="0"/>
          </a:p>
        </p:txBody>
      </p:sp>
      <p:sp>
        <p:nvSpPr>
          <p:cNvPr id="9" name="Owner 3"/>
          <p:cNvSpPr txBox="1"/>
          <p:nvPr/>
        </p:nvSpPr>
        <p:spPr>
          <a:xfrm>
            <a:off x="5065776" y="1828800"/>
            <a:ext cx="2029968" cy="365760"/>
          </a:xfrm>
          <a:prstGeom prst="rect">
            <a:avLst/>
          </a:prstGeom>
          <a:noFill/>
          <a:ln/>
        </p:spPr>
        <p:txBody>
          <a:bodyPr wrap="square" lIns="0" tIns="0" rIns="0" bIns="0" rtlCol="0" anchor="ctr"/>
          <a:lstStyle/>
          <a:p>
            <a:pPr algn="ctr" indent="0" marL="0">
              <a:buNone/>
            </a:pPr>
            <a:r>
              <a:rPr lang="en-US" sz="1300" b="1" spc="100" kern="0" dirty="0">
                <a:solidFill>
                  <a:schemeClr val="accent1"/>
                </a:solidFill>
              </a:rPr>
              <a:t>P3 · CONDUCT</a:t>
            </a:r>
            <a:endParaRPr lang="en-US" sz="1300" dirty="0"/>
          </a:p>
        </p:txBody>
      </p:sp>
      <p:sp>
        <p:nvSpPr>
          <p:cNvPr id="10" name="Tile ALGORITHMS">
            <a:hlinkClick r:id="rId5" tooltip="ALGORITHMS" action="ppaction://hlinksldjump"/>
          </p:cNvPr>
          <p:cNvSpPr/>
          <p:nvPr/>
        </p:nvSpPr>
        <p:spPr>
          <a:xfrm>
            <a:off x="5065776" y="2286000"/>
            <a:ext cx="2029968" cy="1600200"/>
          </a:xfrm>
          <a:prstGeom prst="roundRect">
            <a:avLst>
              <a:gd name="adj" fmla="val 4571"/>
            </a:avLst>
          </a:prstGeom>
          <a:solidFill>
            <a:schemeClr val="bg1"/>
          </a:solidFill>
          <a:ln w="25400">
            <a:solidFill>
              <a:schemeClr val="accent1"/>
            </a:solidFill>
          </a:ln>
        </p:spPr>
        <p:txBody>
          <a:bodyPr wrap="square" lIns="101600" tIns="101600" rIns="101600" bIns="101600" rtlCol="0" anchor="ctr"/>
          <a:lstStyle/>
          <a:p>
            <a:pPr algn="ctr" indent="0" marL="0">
              <a:buNone/>
            </a:pPr>
            <a:r>
              <a:rPr lang="en-US" sz="2200" b="1" dirty="0">
                <a:solidFill>
                  <a:schemeClr val="tx1"/>
                </a:solidFill>
              </a:rPr>
              <a:t>ALGORITHMS</a:t>
            </a:r>
            <a:endParaRPr lang="en-US" sz="2200" dirty="0"/>
          </a:p>
        </p:txBody>
      </p:sp>
      <p:sp>
        <p:nvSpPr>
          <p:cNvPr id="11" name="Tile PROFIT">
            <a:hlinkClick r:id="rId6" tooltip="PROFIT" action="ppaction://hlinksldjump"/>
          </p:cNvPr>
          <p:cNvSpPr/>
          <p:nvPr/>
        </p:nvSpPr>
        <p:spPr>
          <a:xfrm>
            <a:off x="5065776" y="4069080"/>
            <a:ext cx="2029968" cy="1600200"/>
          </a:xfrm>
          <a:prstGeom prst="roundRect">
            <a:avLst>
              <a:gd name="adj" fmla="val 4571"/>
            </a:avLst>
          </a:prstGeom>
          <a:solidFill>
            <a:schemeClr val="bg1"/>
          </a:solidFill>
          <a:ln w="25400">
            <a:solidFill>
              <a:schemeClr val="accent1"/>
            </a:solidFill>
          </a:ln>
        </p:spPr>
        <p:txBody>
          <a:bodyPr wrap="square" lIns="101600" tIns="101600" rIns="101600" bIns="101600" rtlCol="0" anchor="ctr"/>
          <a:lstStyle/>
          <a:p>
            <a:pPr algn="ctr" indent="0" marL="0">
              <a:buNone/>
            </a:pPr>
            <a:r>
              <a:rPr lang="en-US" sz="2200" b="1" dirty="0">
                <a:solidFill>
                  <a:schemeClr val="tx1"/>
                </a:solidFill>
              </a:rPr>
              <a:t>PROFIT</a:t>
            </a:r>
            <a:endParaRPr lang="en-US" sz="2200" dirty="0"/>
          </a:p>
        </p:txBody>
      </p:sp>
      <p:sp>
        <p:nvSpPr>
          <p:cNvPr id="12" name="Owner 4"/>
          <p:cNvSpPr txBox="1"/>
          <p:nvPr/>
        </p:nvSpPr>
        <p:spPr>
          <a:xfrm>
            <a:off x="7232904" y="1828800"/>
            <a:ext cx="2029968" cy="365760"/>
          </a:xfrm>
          <a:prstGeom prst="rect">
            <a:avLst/>
          </a:prstGeom>
          <a:noFill/>
          <a:ln/>
        </p:spPr>
        <p:txBody>
          <a:bodyPr wrap="square" lIns="0" tIns="0" rIns="0" bIns="0" rtlCol="0" anchor="ctr"/>
          <a:lstStyle/>
          <a:p>
            <a:pPr algn="ctr" indent="0" marL="0">
              <a:buNone/>
            </a:pPr>
            <a:r>
              <a:rPr lang="en-US" sz="1300" b="1" spc="100" kern="0" dirty="0">
                <a:solidFill>
                  <a:schemeClr val="accent1"/>
                </a:solidFill>
              </a:rPr>
              <a:t>P4 · CONSEQUENCES</a:t>
            </a:r>
            <a:endParaRPr lang="en-US" sz="1300" dirty="0"/>
          </a:p>
        </p:txBody>
      </p:sp>
      <p:sp>
        <p:nvSpPr>
          <p:cNvPr id="13" name="Tile NO INCENTIVE">
            <a:hlinkClick r:id="rId7" tooltip="NO INCENTIVE" action="ppaction://hlinksldjump"/>
          </p:cNvPr>
          <p:cNvSpPr/>
          <p:nvPr/>
        </p:nvSpPr>
        <p:spPr>
          <a:xfrm>
            <a:off x="7232904" y="2286000"/>
            <a:ext cx="2029968" cy="1600200"/>
          </a:xfrm>
          <a:prstGeom prst="roundRect">
            <a:avLst>
              <a:gd name="adj" fmla="val 4571"/>
            </a:avLst>
          </a:prstGeom>
          <a:solidFill>
            <a:schemeClr val="bg1"/>
          </a:solidFill>
          <a:ln w="25400">
            <a:solidFill>
              <a:schemeClr val="accent1"/>
            </a:solidFill>
          </a:ln>
        </p:spPr>
        <p:txBody>
          <a:bodyPr wrap="square" lIns="101600" tIns="101600" rIns="101600" bIns="101600" rtlCol="0" anchor="ctr"/>
          <a:lstStyle/>
          <a:p>
            <a:pPr algn="ctr" indent="0" marL="0">
              <a:buNone/>
            </a:pPr>
            <a:r>
              <a:rPr lang="en-US" sz="2200" b="1" dirty="0">
                <a:solidFill>
                  <a:schemeClr val="tx1"/>
                </a:solidFill>
              </a:rPr>
              <a:t>NO</a:t>
            </a:r>
            <a:endParaRPr lang="en-US" sz="2200" dirty="0"/>
          </a:p>
          <a:p>
            <a:pPr algn="ctr" indent="0" marL="0">
              <a:buNone/>
            </a:pPr>
            <a:r>
              <a:rPr lang="en-US" sz="2200" b="1" dirty="0">
                <a:solidFill>
                  <a:schemeClr val="tx1"/>
                </a:solidFill>
              </a:rPr>
              <a:t>INCENTIVE</a:t>
            </a:r>
            <a:endParaRPr lang="en-US" sz="2200" dirty="0"/>
          </a:p>
        </p:txBody>
      </p:sp>
      <p:sp>
        <p:nvSpPr>
          <p:cNvPr id="14" name="Tile ALREADY MODERATE / AI">
            <a:hlinkClick r:id="rId8" tooltip="ALREADY MODERATE / AI" action="ppaction://hlinksldjump"/>
          </p:cNvPr>
          <p:cNvSpPr/>
          <p:nvPr/>
        </p:nvSpPr>
        <p:spPr>
          <a:xfrm>
            <a:off x="7232904" y="4069080"/>
            <a:ext cx="2029968" cy="1600200"/>
          </a:xfrm>
          <a:prstGeom prst="roundRect">
            <a:avLst>
              <a:gd name="adj" fmla="val 4571"/>
            </a:avLst>
          </a:prstGeom>
          <a:solidFill>
            <a:schemeClr val="bg1"/>
          </a:solidFill>
          <a:ln w="25400">
            <a:solidFill>
              <a:schemeClr val="accent1"/>
            </a:solidFill>
          </a:ln>
        </p:spPr>
        <p:txBody>
          <a:bodyPr wrap="square" lIns="101600" tIns="101600" rIns="101600" bIns="101600" rtlCol="0" anchor="ctr"/>
          <a:lstStyle/>
          <a:p>
            <a:pPr algn="ctr" indent="0" marL="0">
              <a:buNone/>
            </a:pPr>
            <a:r>
              <a:rPr lang="en-US" sz="1800" b="1" dirty="0">
                <a:solidFill>
                  <a:schemeClr val="tx1"/>
                </a:solidFill>
              </a:rPr>
              <a:t>ALREADY</a:t>
            </a:r>
            <a:endParaRPr lang="en-US" sz="1800" dirty="0"/>
          </a:p>
          <a:p>
            <a:pPr algn="ctr" indent="0" marL="0">
              <a:buNone/>
            </a:pPr>
            <a:r>
              <a:rPr lang="en-US" sz="1800" b="1" dirty="0">
                <a:solidFill>
                  <a:schemeClr val="tx1"/>
                </a:solidFill>
              </a:rPr>
              <a:t>MODERATE / AI</a:t>
            </a:r>
            <a:endParaRPr lang="en-US" sz="1800" dirty="0"/>
          </a:p>
        </p:txBody>
      </p:sp>
      <p:sp>
        <p:nvSpPr>
          <p:cNvPr id="15" name="Owner 5"/>
          <p:cNvSpPr txBox="1"/>
          <p:nvPr/>
        </p:nvSpPr>
        <p:spPr>
          <a:xfrm>
            <a:off x="9400032" y="1828800"/>
            <a:ext cx="2029968" cy="365760"/>
          </a:xfrm>
          <a:prstGeom prst="rect">
            <a:avLst/>
          </a:prstGeom>
          <a:noFill/>
          <a:ln/>
        </p:spPr>
        <p:txBody>
          <a:bodyPr wrap="square" lIns="0" tIns="0" rIns="0" bIns="0" rtlCol="0" anchor="ctr"/>
          <a:lstStyle/>
          <a:p>
            <a:pPr algn="ctr" indent="0" marL="0">
              <a:buNone/>
            </a:pPr>
            <a:r>
              <a:rPr lang="en-US" sz="1300" b="1" spc="100" kern="0" dirty="0">
                <a:solidFill>
                  <a:schemeClr val="accent1"/>
                </a:solidFill>
              </a:rPr>
              <a:t>P5 · ALTERNATIVE</a:t>
            </a:r>
            <a:endParaRPr lang="en-US" sz="1300" dirty="0"/>
          </a:p>
        </p:txBody>
      </p:sp>
      <p:sp>
        <p:nvSpPr>
          <p:cNvPr id="16" name="Tile HARM and VICTIMS">
            <a:hlinkClick r:id="rId9" tooltip="HARM &amp; VICTIMS" action="ppaction://hlinksldjump"/>
          </p:cNvPr>
          <p:cNvSpPr/>
          <p:nvPr/>
        </p:nvSpPr>
        <p:spPr>
          <a:xfrm>
            <a:off x="9400032" y="2286000"/>
            <a:ext cx="2029968" cy="1600200"/>
          </a:xfrm>
          <a:prstGeom prst="roundRect">
            <a:avLst>
              <a:gd name="adj" fmla="val 4571"/>
            </a:avLst>
          </a:prstGeom>
          <a:solidFill>
            <a:schemeClr val="bg1"/>
          </a:solidFill>
          <a:ln w="25400">
            <a:solidFill>
              <a:schemeClr val="accent1"/>
            </a:solidFill>
          </a:ln>
        </p:spPr>
        <p:txBody>
          <a:bodyPr wrap="square" lIns="101600" tIns="101600" rIns="101600" bIns="101600" rtlCol="0" anchor="ctr"/>
          <a:lstStyle/>
          <a:p>
            <a:pPr algn="ctr" indent="0" marL="0">
              <a:buNone/>
            </a:pPr>
            <a:r>
              <a:rPr lang="en-US" sz="2200" b="1" dirty="0">
                <a:solidFill>
                  <a:schemeClr val="tx1"/>
                </a:solidFill>
              </a:rPr>
              <a:t>HARM &amp;</a:t>
            </a:r>
            <a:endParaRPr lang="en-US" sz="2200" dirty="0"/>
          </a:p>
          <a:p>
            <a:pPr algn="ctr" indent="0" marL="0">
              <a:buNone/>
            </a:pPr>
            <a:r>
              <a:rPr lang="en-US" sz="2200" b="1" dirty="0">
                <a:solidFill>
                  <a:schemeClr val="tx1"/>
                </a:solidFill>
              </a:rPr>
              <a:t>VICTIMS</a:t>
            </a:r>
            <a:endParaRPr lang="en-US" sz="2200" dirty="0"/>
          </a:p>
        </p:txBody>
      </p:sp>
      <p:sp>
        <p:nvSpPr>
          <p:cNvPr id="17" name="Tile LAW IS CHANGING">
            <a:hlinkClick r:id="rId10" tooltip="LAW IS CHANGING" action="ppaction://hlinksldjump"/>
          </p:cNvPr>
          <p:cNvSpPr/>
          <p:nvPr/>
        </p:nvSpPr>
        <p:spPr>
          <a:xfrm>
            <a:off x="9400032" y="4069080"/>
            <a:ext cx="2029968" cy="1600200"/>
          </a:xfrm>
          <a:prstGeom prst="roundRect">
            <a:avLst>
              <a:gd name="adj" fmla="val 4571"/>
            </a:avLst>
          </a:prstGeom>
          <a:solidFill>
            <a:schemeClr val="bg1"/>
          </a:solidFill>
          <a:ln w="25400">
            <a:solidFill>
              <a:schemeClr val="accent1"/>
            </a:solidFill>
          </a:ln>
        </p:spPr>
        <p:txBody>
          <a:bodyPr wrap="square" lIns="101600" tIns="101600" rIns="101600" bIns="101600" rtlCol="0" anchor="ctr"/>
          <a:lstStyle/>
          <a:p>
            <a:pPr algn="ctr" indent="0" marL="0">
              <a:buNone/>
            </a:pPr>
            <a:r>
              <a:rPr lang="en-US" sz="2200" b="1" dirty="0">
                <a:solidFill>
                  <a:schemeClr val="tx1"/>
                </a:solidFill>
              </a:rPr>
              <a:t>LAW IS</a:t>
            </a:r>
            <a:endParaRPr lang="en-US" sz="2200" dirty="0"/>
          </a:p>
          <a:p>
            <a:pPr algn="ctr" indent="0" marL="0">
              <a:buNone/>
            </a:pPr>
            <a:r>
              <a:rPr lang="en-US" sz="2200" b="1" dirty="0">
                <a:solidFill>
                  <a:schemeClr val="tx1"/>
                </a:solidFill>
              </a:rPr>
              <a:t>CHANGING</a:t>
            </a:r>
            <a:endParaRPr lang="en-US" sz="2200" dirty="0"/>
          </a:p>
        </p:txBody>
      </p:sp>
      <p:sp>
        <p:nvSpPr>
          <p:cNvPr id="18" name="Nav Our case">
            <a:hlinkClick r:id="rId11" tooltip="Our case" action="ppaction://hlinksldjump"/>
          </p:cNvPr>
          <p:cNvSpPr txBox="1"/>
          <p:nvPr/>
        </p:nvSpPr>
        <p:spPr>
          <a:xfrm>
            <a:off x="720547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Our case</a:t>
            </a:r>
            <a:endParaRPr lang="en-US" sz="1300" dirty="0"/>
          </a:p>
        </p:txBody>
      </p:sp>
      <p:sp>
        <p:nvSpPr>
          <p:cNvPr id="19" name="Nav The test">
            <a:hlinkClick r:id="rId12" tooltip="The test" action="ppaction://hlinksldjump"/>
          </p:cNvPr>
          <p:cNvSpPr txBox="1"/>
          <p:nvPr/>
        </p:nvSpPr>
        <p:spPr>
          <a:xfrm>
            <a:off x="862279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The test</a:t>
            </a:r>
            <a:endParaRPr lang="en-US" sz="1300" dirty="0"/>
          </a:p>
        </p:txBody>
      </p:sp>
      <p:sp>
        <p:nvSpPr>
          <p:cNvPr id="20" name="Nav Backdrop">
            <a:hlinkClick r:id="rId13" tooltip="Backdrop" action="ppaction://hlinksldjump"/>
          </p:cNvPr>
          <p:cNvSpPr txBox="1"/>
          <p:nvPr/>
        </p:nvSpPr>
        <p:spPr>
          <a:xfrm>
            <a:off x="1004011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Backdrop</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10">
    <p:spTree>
      <p:nvGrpSpPr>
        <p:cNvPr id="1" name=""/>
        <p:cNvGrpSpPr/>
        <p:nvPr/>
      </p:nvGrpSpPr>
      <p:grpSpPr>
        <a:xfrm>
          <a:off x="0" y="0"/>
          <a:ext cx="0" cy="0"/>
          <a:chOff x="0" y="0"/>
          <a:chExt cx="0" cy="0"/>
        </a:xfrm>
      </p:grpSpPr>
      <p:sp>
        <p:nvSpPr>
          <p:cNvPr id="2" name="Category"/>
          <p:cNvSpPr txBox="1"/>
          <p:nvPr/>
        </p:nvSpPr>
        <p:spPr>
          <a:xfrm>
            <a:off x="731520" y="365760"/>
            <a:ext cx="731520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GROUP 5  ·  DUTY OF CARE</a:t>
            </a:r>
            <a:endParaRPr lang="en-US" sz="1400" dirty="0"/>
          </a:p>
        </p:txBody>
      </p:sp>
      <p:sp>
        <p:nvSpPr>
          <p:cNvPr id="3" name="Their claim"/>
          <p:cNvSpPr txBox="1"/>
          <p:nvPr/>
        </p:nvSpPr>
        <p:spPr>
          <a:xfrm>
            <a:off x="731520" y="868680"/>
            <a:ext cx="10698480" cy="1188720"/>
          </a:xfrm>
          <a:prstGeom prst="rect">
            <a:avLst/>
          </a:prstGeom>
          <a:noFill/>
          <a:ln/>
        </p:spPr>
        <p:txBody>
          <a:bodyPr wrap="square" lIns="0" tIns="0" rIns="0" bIns="0" rtlCol="0" anchor="t"/>
          <a:lstStyle/>
          <a:p>
            <a:pPr indent="0" marL="0">
              <a:buNone/>
            </a:pPr>
            <a:r>
              <a:rPr lang="en-US" sz="3000" b="1" dirty="0">
                <a:solidFill>
                  <a:schemeClr val="accent2"/>
                </a:solidFill>
              </a:rPr>
              <a:t>“</a:t>
            </a:r>
            <a:pPr indent="0" marL="0">
              <a:buNone/>
            </a:pPr>
            <a:r>
              <a:rPr lang="en-US" sz="3000" b="1" dirty="0">
                <a:solidFill>
                  <a:schemeClr val="accent3"/>
                </a:solidFill>
              </a:rPr>
              <a:t>PLATFORMS SHOULD TAKE REASONABLE STEPS ONCE THEY KNOW.</a:t>
            </a:r>
            <a:pPr indent="0" marL="0">
              <a:buNone/>
            </a:pPr>
            <a:r>
              <a:rPr lang="en-US" sz="3000" b="1" dirty="0">
                <a:solidFill>
                  <a:schemeClr val="accent2"/>
                </a:solidFill>
              </a:rPr>
              <a:t>”</a:t>
            </a:r>
            <a:endParaRPr lang="en-US" sz="3000" dirty="0"/>
          </a:p>
        </p:txBody>
      </p:sp>
      <p:sp>
        <p:nvSpPr>
          <p:cNvPr id="4" name="Text 0"/>
          <p:cNvSpPr/>
          <p:nvPr>
            <p:ph idx="100" type="title" hasCustomPrompt="1"/>
          </p:nvPr>
        </p:nvSpPr>
        <p:spPr>
          <a:xfrm>
            <a:off x="731520" y="2286000"/>
            <a:ext cx="10698480" cy="1325880"/>
          </a:xfrm>
          <a:prstGeom prst="rect">
            <a:avLst/>
          </a:prstGeom>
          <a:noFill/>
          <a:ln/>
        </p:spPr>
        <p:txBody>
          <a:bodyPr wrap="square" lIns="0" tIns="0" rIns="0" bIns="0" rtlCol="0" anchor="t"/>
          <a:lstStyle/>
          <a:p>
            <a:pPr algn="l" indent="0" marL="0">
              <a:buNone/>
            </a:pPr>
            <a:r>
              <a:rPr lang="en-US" sz="3600" b="1" dirty="0">
                <a:solidFill>
                  <a:schemeClr val="accent1"/>
                </a:solidFill>
              </a:rPr>
              <a:t>REASONABLE STEPS TOWARD WHAT?</a:t>
            </a:r>
            <a:endParaRPr lang="en-US" sz="3600" dirty="0"/>
          </a:p>
        </p:txBody>
      </p:sp>
      <p:sp>
        <p:nvSpPr>
          <p:cNvPr id="5" name="Support"/>
          <p:cNvSpPr txBox="1"/>
          <p:nvPr/>
        </p:nvSpPr>
        <p:spPr>
          <a:xfrm>
            <a:off x="731520" y="3657600"/>
            <a:ext cx="10698480" cy="960120"/>
          </a:xfrm>
          <a:prstGeom prst="rect">
            <a:avLst/>
          </a:prstGeom>
          <a:noFill/>
          <a:ln/>
        </p:spPr>
        <p:txBody>
          <a:bodyPr wrap="square" lIns="0" tIns="0" rIns="0" bIns="0" rtlCol="0" anchor="t"/>
          <a:lstStyle/>
          <a:p>
            <a:pPr indent="0" marL="0">
              <a:spcAft>
                <a:spcPts val="200"/>
              </a:spcAft>
              <a:buNone/>
            </a:pPr>
            <a:r>
              <a:rPr lang="en-US" sz="2400" dirty="0">
                <a:solidFill>
                  <a:schemeClr val="tx1"/>
                </a:solidFill>
              </a:rPr>
              <a:t>Remove the post?</a:t>
            </a:r>
            <a:endParaRPr lang="en-US" sz="2400" dirty="0"/>
          </a:p>
          <a:p>
            <a:pPr indent="0" marL="0">
              <a:spcAft>
                <a:spcPts val="200"/>
              </a:spcAft>
              <a:buNone/>
            </a:pPr>
            <a:r>
              <a:rPr lang="en-US" sz="2400" dirty="0">
                <a:solidFill>
                  <a:schemeClr val="tx1"/>
                </a:solidFill>
              </a:rPr>
              <a:t>Or decide whether it's true?</a:t>
            </a:r>
            <a:endParaRPr lang="en-US" sz="2400" dirty="0"/>
          </a:p>
        </p:txBody>
      </p:sp>
      <p:sp>
        <p:nvSpPr>
          <p:cNvPr id="6" name="Ask label"/>
          <p:cNvSpPr txBox="1"/>
          <p:nvPr/>
        </p:nvSpPr>
        <p:spPr>
          <a:xfrm>
            <a:off x="731520" y="4800600"/>
            <a:ext cx="1828800" cy="274320"/>
          </a:xfrm>
          <a:prstGeom prst="rect">
            <a:avLst/>
          </a:prstGeom>
          <a:noFill/>
          <a:ln/>
        </p:spPr>
        <p:txBody>
          <a:bodyPr wrap="square" lIns="0" tIns="0" rIns="0" bIns="0" rtlCol="0" anchor="ctr"/>
          <a:lstStyle/>
          <a:p>
            <a:pPr indent="0" marL="0">
              <a:buNone/>
            </a:pPr>
            <a:r>
              <a:rPr lang="en-US" sz="1200" b="1" spc="200" kern="0" dirty="0">
                <a:solidFill>
                  <a:schemeClr val="accent3"/>
                </a:solidFill>
              </a:rPr>
              <a:t>ASK</a:t>
            </a:r>
            <a:endParaRPr lang="en-US" sz="1200" dirty="0"/>
          </a:p>
        </p:txBody>
      </p:sp>
      <p:sp>
        <p:nvSpPr>
          <p:cNvPr id="7" name="Ask"/>
          <p:cNvSpPr txBox="1"/>
          <p:nvPr/>
        </p:nvSpPr>
        <p:spPr>
          <a:xfrm>
            <a:off x="731520" y="5074920"/>
            <a:ext cx="10698480" cy="822960"/>
          </a:xfrm>
          <a:prstGeom prst="rect">
            <a:avLst/>
          </a:prstGeom>
          <a:noFill/>
          <a:ln/>
        </p:spPr>
        <p:txBody>
          <a:bodyPr wrap="square" lIns="0" tIns="0" rIns="0" bIns="0" rtlCol="0" anchor="t"/>
          <a:lstStyle/>
          <a:p>
            <a:pPr indent="0" marL="0">
              <a:buNone/>
            </a:pPr>
            <a:r>
              <a:rPr lang="en-US" sz="2400" i="1" dirty="0">
                <a:solidFill>
                  <a:schemeClr val="tx1"/>
                </a:solidFill>
              </a:rPr>
              <a:t>What exactly triggers the legal duty?</a:t>
            </a:r>
            <a:endParaRPr lang="en-US" sz="2400" dirty="0"/>
          </a:p>
        </p:txBody>
      </p:sp>
      <p:sp>
        <p:nvSpPr>
          <p:cNvPr id="8" name="Owner"/>
          <p:cNvSpPr txBox="1"/>
          <p:nvPr/>
        </p:nvSpPr>
        <p:spPr>
          <a:xfrm>
            <a:off x="731520" y="6263640"/>
            <a:ext cx="2743200" cy="320040"/>
          </a:xfrm>
          <a:prstGeom prst="rect">
            <a:avLst/>
          </a:prstGeom>
          <a:noFill/>
          <a:ln/>
        </p:spPr>
        <p:txBody>
          <a:bodyPr wrap="square" lIns="0" tIns="0" rIns="0" bIns="0" rtlCol="0" anchor="ctr"/>
          <a:lstStyle/>
          <a:p>
            <a:pPr indent="0" marL="0">
              <a:buNone/>
            </a:pPr>
            <a:r>
              <a:rPr lang="en-US" sz="1300" b="1" spc="100" kern="0" dirty="0">
                <a:solidFill>
                  <a:schemeClr val="accent1"/>
                </a:solidFill>
              </a:rPr>
              <a:t>OWNER  ·  P1</a:t>
            </a:r>
            <a:endParaRPr lang="en-US" sz="1300" dirty="0"/>
          </a:p>
        </p:txBody>
      </p:sp>
      <p:sp>
        <p:nvSpPr>
          <p:cNvPr id="9" name="Nav ← Menu">
            <a:hlinkClick r:id="rId1" tooltip="← Menu" action="ppaction://hlinksldjump"/>
          </p:cNvPr>
          <p:cNvSpPr txBox="1"/>
          <p:nvPr/>
        </p:nvSpPr>
        <p:spPr>
          <a:xfrm>
            <a:off x="720547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 Menu</a:t>
            </a:r>
            <a:endParaRPr lang="en-US" sz="1300" dirty="0"/>
          </a:p>
        </p:txBody>
      </p:sp>
      <p:sp>
        <p:nvSpPr>
          <p:cNvPr id="10" name="Nav Our case">
            <a:hlinkClick r:id="rId2" tooltip="Our case" action="ppaction://hlinksldjump"/>
          </p:cNvPr>
          <p:cNvSpPr txBox="1"/>
          <p:nvPr/>
        </p:nvSpPr>
        <p:spPr>
          <a:xfrm>
            <a:off x="862279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Our case</a:t>
            </a:r>
            <a:endParaRPr lang="en-US" sz="1300" dirty="0"/>
          </a:p>
        </p:txBody>
      </p:sp>
      <p:sp>
        <p:nvSpPr>
          <p:cNvPr id="11" name="Nav The test">
            <a:hlinkClick r:id="rId3" tooltip="The test" action="ppaction://hlinksldjump"/>
          </p:cNvPr>
          <p:cNvSpPr txBox="1"/>
          <p:nvPr/>
        </p:nvSpPr>
        <p:spPr>
          <a:xfrm>
            <a:off x="1004011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The test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name="Slide 11">
    <p:spTree>
      <p:nvGrpSpPr>
        <p:cNvPr id="1" name=""/>
        <p:cNvGrpSpPr/>
        <p:nvPr/>
      </p:nvGrpSpPr>
      <p:grpSpPr>
        <a:xfrm>
          <a:off x="0" y="0"/>
          <a:ext cx="0" cy="0"/>
          <a:chOff x="0" y="0"/>
          <a:chExt cx="0" cy="0"/>
        </a:xfrm>
      </p:grpSpPr>
      <p:sp>
        <p:nvSpPr>
          <p:cNvPr id="2" name="Category"/>
          <p:cNvSpPr txBox="1"/>
          <p:nvPr/>
        </p:nvSpPr>
        <p:spPr>
          <a:xfrm>
            <a:off x="731520" y="365760"/>
            <a:ext cx="731520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GROUP 5  ·  PUBLISHERS</a:t>
            </a:r>
            <a:endParaRPr lang="en-US" sz="1400" dirty="0"/>
          </a:p>
        </p:txBody>
      </p:sp>
      <p:sp>
        <p:nvSpPr>
          <p:cNvPr id="3" name="Their claim"/>
          <p:cNvSpPr txBox="1"/>
          <p:nvPr/>
        </p:nvSpPr>
        <p:spPr>
          <a:xfrm>
            <a:off x="731520" y="868680"/>
            <a:ext cx="10698480" cy="1188720"/>
          </a:xfrm>
          <a:prstGeom prst="rect">
            <a:avLst/>
          </a:prstGeom>
          <a:noFill/>
          <a:ln/>
        </p:spPr>
        <p:txBody>
          <a:bodyPr wrap="square" lIns="0" tIns="0" rIns="0" bIns="0" rtlCol="0" anchor="t"/>
          <a:lstStyle/>
          <a:p>
            <a:pPr indent="0" marL="0">
              <a:buNone/>
            </a:pPr>
            <a:r>
              <a:rPr lang="en-US" sz="3000" b="1" dirty="0">
                <a:solidFill>
                  <a:schemeClr val="accent2"/>
                </a:solidFill>
              </a:rPr>
              <a:t>“</a:t>
            </a:r>
            <a:pPr indent="0" marL="0">
              <a:buNone/>
            </a:pPr>
            <a:r>
              <a:rPr lang="en-US" sz="3000" b="1" dirty="0">
                <a:solidFill>
                  <a:schemeClr val="accent3"/>
                </a:solidFill>
              </a:rPr>
              <a:t>NEWSPAPERS ARE LIABLE. WHY NOT PLATFORMS?</a:t>
            </a:r>
            <a:pPr indent="0" marL="0">
              <a:buNone/>
            </a:pPr>
            <a:r>
              <a:rPr lang="en-US" sz="3000" b="1" dirty="0">
                <a:solidFill>
                  <a:schemeClr val="accent2"/>
                </a:solidFill>
              </a:rPr>
              <a:t>”</a:t>
            </a:r>
            <a:endParaRPr lang="en-US" sz="3000" dirty="0"/>
          </a:p>
        </p:txBody>
      </p:sp>
      <p:sp>
        <p:nvSpPr>
          <p:cNvPr id="4" name="Text 0"/>
          <p:cNvSpPr/>
          <p:nvPr>
            <p:ph idx="100" type="title" hasCustomPrompt="1"/>
          </p:nvPr>
        </p:nvSpPr>
        <p:spPr>
          <a:xfrm>
            <a:off x="731520" y="2286000"/>
            <a:ext cx="10698480" cy="1325880"/>
          </a:xfrm>
          <a:prstGeom prst="rect">
            <a:avLst/>
          </a:prstGeom>
          <a:noFill/>
          <a:ln/>
        </p:spPr>
        <p:txBody>
          <a:bodyPr wrap="square" lIns="0" tIns="0" rIns="0" bIns="0" rtlCol="0" anchor="t"/>
          <a:lstStyle/>
          <a:p>
            <a:pPr algn="l" indent="0" marL="0">
              <a:buNone/>
            </a:pPr>
            <a:r>
              <a:rPr lang="en-US" sz="3600" b="1" dirty="0">
                <a:solidFill>
                  <a:schemeClr val="accent1"/>
                </a:solidFill>
              </a:rPr>
              <a:t>PUBLISHERS CHOOSE. PLATFORMS HOST.</a:t>
            </a:r>
            <a:endParaRPr lang="en-US" sz="3600" dirty="0"/>
          </a:p>
        </p:txBody>
      </p:sp>
      <p:sp>
        <p:nvSpPr>
          <p:cNvPr id="5" name="Support"/>
          <p:cNvSpPr txBox="1"/>
          <p:nvPr/>
        </p:nvSpPr>
        <p:spPr>
          <a:xfrm>
            <a:off x="731520" y="3657600"/>
            <a:ext cx="10698480" cy="960120"/>
          </a:xfrm>
          <a:prstGeom prst="rect">
            <a:avLst/>
          </a:prstGeom>
          <a:noFill/>
          <a:ln/>
        </p:spPr>
        <p:txBody>
          <a:bodyPr wrap="square" lIns="0" tIns="0" rIns="0" bIns="0" rtlCol="0" anchor="t"/>
          <a:lstStyle/>
          <a:p>
            <a:pPr indent="0" marL="0">
              <a:spcAft>
                <a:spcPts val="200"/>
              </a:spcAft>
              <a:buNone/>
            </a:pPr>
            <a:r>
              <a:rPr lang="en-US" sz="2400" dirty="0">
                <a:solidFill>
                  <a:schemeClr val="tx1"/>
                </a:solidFill>
              </a:rPr>
              <a:t>An editor picks every piece before it runs.</a:t>
            </a:r>
            <a:endParaRPr lang="en-US" sz="2400" dirty="0"/>
          </a:p>
          <a:p>
            <a:pPr indent="0" marL="0">
              <a:spcAft>
                <a:spcPts val="200"/>
              </a:spcAft>
              <a:buNone/>
            </a:pPr>
            <a:r>
              <a:rPr lang="en-US" sz="2400" dirty="0">
                <a:solidFill>
                  <a:schemeClr val="tx1"/>
                </a:solidFill>
              </a:rPr>
              <a:t>Platforms carry posts no one there has read.</a:t>
            </a:r>
            <a:endParaRPr lang="en-US" sz="2400" dirty="0"/>
          </a:p>
        </p:txBody>
      </p:sp>
      <p:sp>
        <p:nvSpPr>
          <p:cNvPr id="6" name="Ask label"/>
          <p:cNvSpPr txBox="1"/>
          <p:nvPr/>
        </p:nvSpPr>
        <p:spPr>
          <a:xfrm>
            <a:off x="731520" y="4800600"/>
            <a:ext cx="1828800" cy="274320"/>
          </a:xfrm>
          <a:prstGeom prst="rect">
            <a:avLst/>
          </a:prstGeom>
          <a:noFill/>
          <a:ln/>
        </p:spPr>
        <p:txBody>
          <a:bodyPr wrap="square" lIns="0" tIns="0" rIns="0" bIns="0" rtlCol="0" anchor="ctr"/>
          <a:lstStyle/>
          <a:p>
            <a:pPr indent="0" marL="0">
              <a:buNone/>
            </a:pPr>
            <a:r>
              <a:rPr lang="en-US" sz="1200" b="1" spc="200" kern="0" dirty="0">
                <a:solidFill>
                  <a:schemeClr val="accent3"/>
                </a:solidFill>
              </a:rPr>
              <a:t>ASK</a:t>
            </a:r>
            <a:endParaRPr lang="en-US" sz="1200" dirty="0"/>
          </a:p>
        </p:txBody>
      </p:sp>
      <p:sp>
        <p:nvSpPr>
          <p:cNvPr id="7" name="Ask"/>
          <p:cNvSpPr txBox="1"/>
          <p:nvPr/>
        </p:nvSpPr>
        <p:spPr>
          <a:xfrm>
            <a:off x="731520" y="5074920"/>
            <a:ext cx="10698480" cy="822960"/>
          </a:xfrm>
          <a:prstGeom prst="rect">
            <a:avLst/>
          </a:prstGeom>
          <a:noFill/>
          <a:ln/>
        </p:spPr>
        <p:txBody>
          <a:bodyPr wrap="square" lIns="0" tIns="0" rIns="0" bIns="0" rtlCol="0" anchor="t"/>
          <a:lstStyle/>
          <a:p>
            <a:pPr indent="0" marL="0">
              <a:buNone/>
            </a:pPr>
            <a:r>
              <a:rPr lang="en-US" sz="2400" i="1" dirty="0">
                <a:solidFill>
                  <a:schemeClr val="tx1"/>
                </a:solidFill>
              </a:rPr>
              <a:t>Should a platform be liable for a post no one there has seen?</a:t>
            </a:r>
            <a:endParaRPr lang="en-US" sz="2400" dirty="0"/>
          </a:p>
        </p:txBody>
      </p:sp>
      <p:sp>
        <p:nvSpPr>
          <p:cNvPr id="8" name="Owner"/>
          <p:cNvSpPr txBox="1"/>
          <p:nvPr/>
        </p:nvSpPr>
        <p:spPr>
          <a:xfrm>
            <a:off x="731520" y="6263640"/>
            <a:ext cx="2743200" cy="320040"/>
          </a:xfrm>
          <a:prstGeom prst="rect">
            <a:avLst/>
          </a:prstGeom>
          <a:noFill/>
          <a:ln/>
        </p:spPr>
        <p:txBody>
          <a:bodyPr wrap="square" lIns="0" tIns="0" rIns="0" bIns="0" rtlCol="0" anchor="ctr"/>
          <a:lstStyle/>
          <a:p>
            <a:pPr indent="0" marL="0">
              <a:buNone/>
            </a:pPr>
            <a:r>
              <a:rPr lang="en-US" sz="1300" b="1" spc="100" kern="0" dirty="0">
                <a:solidFill>
                  <a:schemeClr val="accent1"/>
                </a:solidFill>
              </a:rPr>
              <a:t>OWNER  ·  P1</a:t>
            </a:r>
            <a:endParaRPr lang="en-US" sz="1300" dirty="0"/>
          </a:p>
        </p:txBody>
      </p:sp>
      <p:sp>
        <p:nvSpPr>
          <p:cNvPr id="9" name="Nav ← Menu">
            <a:hlinkClick r:id="rId1" tooltip="← Menu" action="ppaction://hlinksldjump"/>
          </p:cNvPr>
          <p:cNvSpPr txBox="1"/>
          <p:nvPr/>
        </p:nvSpPr>
        <p:spPr>
          <a:xfrm>
            <a:off x="720547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 Menu</a:t>
            </a:r>
            <a:endParaRPr lang="en-US" sz="1300" dirty="0"/>
          </a:p>
        </p:txBody>
      </p:sp>
      <p:sp>
        <p:nvSpPr>
          <p:cNvPr id="10" name="Nav Our case">
            <a:hlinkClick r:id="rId2" tooltip="Our case" action="ppaction://hlinksldjump"/>
          </p:cNvPr>
          <p:cNvSpPr txBox="1"/>
          <p:nvPr/>
        </p:nvSpPr>
        <p:spPr>
          <a:xfrm>
            <a:off x="862279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Our case</a:t>
            </a:r>
            <a:endParaRPr lang="en-US" sz="1300" dirty="0"/>
          </a:p>
        </p:txBody>
      </p:sp>
      <p:sp>
        <p:nvSpPr>
          <p:cNvPr id="11" name="Nav The test">
            <a:hlinkClick r:id="rId3" tooltip="The test" action="ppaction://hlinksldjump"/>
          </p:cNvPr>
          <p:cNvSpPr txBox="1"/>
          <p:nvPr/>
        </p:nvSpPr>
        <p:spPr>
          <a:xfrm>
            <a:off x="1004011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The test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name="Slide 12">
    <p:spTree>
      <p:nvGrpSpPr>
        <p:cNvPr id="1" name=""/>
        <p:cNvGrpSpPr/>
        <p:nvPr/>
      </p:nvGrpSpPr>
      <p:grpSpPr>
        <a:xfrm>
          <a:off x="0" y="0"/>
          <a:ext cx="0" cy="0"/>
          <a:chOff x="0" y="0"/>
          <a:chExt cx="0" cy="0"/>
        </a:xfrm>
      </p:grpSpPr>
      <p:sp>
        <p:nvSpPr>
          <p:cNvPr id="2" name="Category"/>
          <p:cNvSpPr txBox="1"/>
          <p:nvPr/>
        </p:nvSpPr>
        <p:spPr>
          <a:xfrm>
            <a:off x="731520" y="365760"/>
            <a:ext cx="731520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GROUP 5  ·  KNOWLEDGE</a:t>
            </a:r>
            <a:endParaRPr lang="en-US" sz="1400" dirty="0"/>
          </a:p>
        </p:txBody>
      </p:sp>
      <p:sp>
        <p:nvSpPr>
          <p:cNvPr id="3" name="Their claim"/>
          <p:cNvSpPr txBox="1"/>
          <p:nvPr/>
        </p:nvSpPr>
        <p:spPr>
          <a:xfrm>
            <a:off x="731520" y="868680"/>
            <a:ext cx="10698480" cy="1188720"/>
          </a:xfrm>
          <a:prstGeom prst="rect">
            <a:avLst/>
          </a:prstGeom>
          <a:noFill/>
          <a:ln/>
        </p:spPr>
        <p:txBody>
          <a:bodyPr wrap="square" lIns="0" tIns="0" rIns="0" bIns="0" rtlCol="0" anchor="t"/>
          <a:lstStyle/>
          <a:p>
            <a:pPr indent="0" marL="0">
              <a:buNone/>
            </a:pPr>
            <a:r>
              <a:rPr lang="en-US" sz="3000" b="1" dirty="0">
                <a:solidFill>
                  <a:schemeClr val="accent2"/>
                </a:solidFill>
              </a:rPr>
              <a:t>“</a:t>
            </a:r>
            <a:pPr indent="0" marL="0">
              <a:buNone/>
            </a:pPr>
            <a:r>
              <a:rPr lang="en-US" sz="3000" b="1" dirty="0">
                <a:solidFill>
                  <a:schemeClr val="accent3"/>
                </a:solidFill>
              </a:rPr>
              <a:t>THEY KNOW MISINFORMATION IS ON THEIR PLATFORM.</a:t>
            </a:r>
            <a:pPr indent="0" marL="0">
              <a:buNone/>
            </a:pPr>
            <a:r>
              <a:rPr lang="en-US" sz="3000" b="1" dirty="0">
                <a:solidFill>
                  <a:schemeClr val="accent2"/>
                </a:solidFill>
              </a:rPr>
              <a:t>”</a:t>
            </a:r>
            <a:endParaRPr lang="en-US" sz="3000" dirty="0"/>
          </a:p>
        </p:txBody>
      </p:sp>
      <p:sp>
        <p:nvSpPr>
          <p:cNvPr id="4" name="Text 0"/>
          <p:cNvSpPr/>
          <p:nvPr>
            <p:ph idx="100" type="title" hasCustomPrompt="1"/>
          </p:nvPr>
        </p:nvSpPr>
        <p:spPr>
          <a:xfrm>
            <a:off x="731520" y="2286000"/>
            <a:ext cx="10698480" cy="1325880"/>
          </a:xfrm>
          <a:prstGeom prst="rect">
            <a:avLst/>
          </a:prstGeom>
          <a:noFill/>
          <a:ln/>
        </p:spPr>
        <p:txBody>
          <a:bodyPr wrap="square" lIns="0" tIns="0" rIns="0" bIns="0" rtlCol="0" anchor="t"/>
          <a:lstStyle/>
          <a:p>
            <a:pPr algn="l" indent="0" marL="0">
              <a:buNone/>
            </a:pPr>
            <a:r>
              <a:rPr lang="en-US" sz="3600" b="1" dirty="0">
                <a:solidFill>
                  <a:schemeClr val="accent1"/>
                </a:solidFill>
              </a:rPr>
              <a:t>KNOWING IT EXISTS ≠ KNOWING THIS POST IS FALSE.</a:t>
            </a:r>
            <a:endParaRPr lang="en-US" sz="3600" dirty="0"/>
          </a:p>
        </p:txBody>
      </p:sp>
      <p:sp>
        <p:nvSpPr>
          <p:cNvPr id="5" name="Ask label"/>
          <p:cNvSpPr txBox="1"/>
          <p:nvPr/>
        </p:nvSpPr>
        <p:spPr>
          <a:xfrm>
            <a:off x="731520" y="4800600"/>
            <a:ext cx="1828800" cy="274320"/>
          </a:xfrm>
          <a:prstGeom prst="rect">
            <a:avLst/>
          </a:prstGeom>
          <a:noFill/>
          <a:ln/>
        </p:spPr>
        <p:txBody>
          <a:bodyPr wrap="square" lIns="0" tIns="0" rIns="0" bIns="0" rtlCol="0" anchor="ctr"/>
          <a:lstStyle/>
          <a:p>
            <a:pPr indent="0" marL="0">
              <a:buNone/>
            </a:pPr>
            <a:r>
              <a:rPr lang="en-US" sz="1200" b="1" spc="200" kern="0" dirty="0">
                <a:solidFill>
                  <a:schemeClr val="accent3"/>
                </a:solidFill>
              </a:rPr>
              <a:t>ASK</a:t>
            </a:r>
            <a:endParaRPr lang="en-US" sz="1200" dirty="0"/>
          </a:p>
        </p:txBody>
      </p:sp>
      <p:sp>
        <p:nvSpPr>
          <p:cNvPr id="6" name="Ask"/>
          <p:cNvSpPr txBox="1"/>
          <p:nvPr/>
        </p:nvSpPr>
        <p:spPr>
          <a:xfrm>
            <a:off x="731520" y="5074920"/>
            <a:ext cx="10698480" cy="822960"/>
          </a:xfrm>
          <a:prstGeom prst="rect">
            <a:avLst/>
          </a:prstGeom>
          <a:noFill/>
          <a:ln/>
        </p:spPr>
        <p:txBody>
          <a:bodyPr wrap="square" lIns="0" tIns="0" rIns="0" bIns="0" rtlCol="0" anchor="t"/>
          <a:lstStyle/>
          <a:p>
            <a:pPr indent="0" marL="0">
              <a:buNone/>
            </a:pPr>
            <a:r>
              <a:rPr lang="en-US" sz="2400" i="1" dirty="0">
                <a:solidFill>
                  <a:schemeClr val="tx1"/>
                </a:solidFill>
              </a:rPr>
              <a:t>What exactly must the platform know before liability begins?</a:t>
            </a:r>
            <a:endParaRPr lang="en-US" sz="2400" dirty="0"/>
          </a:p>
        </p:txBody>
      </p:sp>
      <p:sp>
        <p:nvSpPr>
          <p:cNvPr id="7" name="Owner"/>
          <p:cNvSpPr txBox="1"/>
          <p:nvPr/>
        </p:nvSpPr>
        <p:spPr>
          <a:xfrm>
            <a:off x="731520" y="6263640"/>
            <a:ext cx="2743200" cy="320040"/>
          </a:xfrm>
          <a:prstGeom prst="rect">
            <a:avLst/>
          </a:prstGeom>
          <a:noFill/>
          <a:ln/>
        </p:spPr>
        <p:txBody>
          <a:bodyPr wrap="square" lIns="0" tIns="0" rIns="0" bIns="0" rtlCol="0" anchor="ctr"/>
          <a:lstStyle/>
          <a:p>
            <a:pPr indent="0" marL="0">
              <a:buNone/>
            </a:pPr>
            <a:r>
              <a:rPr lang="en-US" sz="1300" b="1" spc="100" kern="0" dirty="0">
                <a:solidFill>
                  <a:schemeClr val="accent1"/>
                </a:solidFill>
              </a:rPr>
              <a:t>OWNER  ·  P2</a:t>
            </a:r>
            <a:endParaRPr lang="en-US" sz="1300" dirty="0"/>
          </a:p>
        </p:txBody>
      </p:sp>
      <p:sp>
        <p:nvSpPr>
          <p:cNvPr id="8" name="Nav ← Menu">
            <a:hlinkClick r:id="rId1" tooltip="← Menu" action="ppaction://hlinksldjump"/>
          </p:cNvPr>
          <p:cNvSpPr txBox="1"/>
          <p:nvPr/>
        </p:nvSpPr>
        <p:spPr>
          <a:xfrm>
            <a:off x="720547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 Menu</a:t>
            </a:r>
            <a:endParaRPr lang="en-US" sz="1300" dirty="0"/>
          </a:p>
        </p:txBody>
      </p:sp>
      <p:sp>
        <p:nvSpPr>
          <p:cNvPr id="9" name="Nav Our case">
            <a:hlinkClick r:id="rId2" tooltip="Our case" action="ppaction://hlinksldjump"/>
          </p:cNvPr>
          <p:cNvSpPr txBox="1"/>
          <p:nvPr/>
        </p:nvSpPr>
        <p:spPr>
          <a:xfrm>
            <a:off x="862279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Our case</a:t>
            </a:r>
            <a:endParaRPr lang="en-US" sz="1300" dirty="0"/>
          </a:p>
        </p:txBody>
      </p:sp>
      <p:sp>
        <p:nvSpPr>
          <p:cNvPr id="10" name="Nav The test">
            <a:hlinkClick r:id="rId3" tooltip="The test" action="ppaction://hlinksldjump"/>
          </p:cNvPr>
          <p:cNvSpPr txBox="1"/>
          <p:nvPr/>
        </p:nvSpPr>
        <p:spPr>
          <a:xfrm>
            <a:off x="1004011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The test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name="Slide 13">
    <p:spTree>
      <p:nvGrpSpPr>
        <p:cNvPr id="1" name=""/>
        <p:cNvGrpSpPr/>
        <p:nvPr/>
      </p:nvGrpSpPr>
      <p:grpSpPr>
        <a:xfrm>
          <a:off x="0" y="0"/>
          <a:ext cx="0" cy="0"/>
          <a:chOff x="0" y="0"/>
          <a:chExt cx="0" cy="0"/>
        </a:xfrm>
      </p:grpSpPr>
      <p:sp>
        <p:nvSpPr>
          <p:cNvPr id="2" name="Category"/>
          <p:cNvSpPr txBox="1"/>
          <p:nvPr/>
        </p:nvSpPr>
        <p:spPr>
          <a:xfrm>
            <a:off x="731520" y="365760"/>
            <a:ext cx="731520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GROUP 5  ·  CLEARLY FALSE</a:t>
            </a:r>
            <a:endParaRPr lang="en-US" sz="1400" dirty="0"/>
          </a:p>
        </p:txBody>
      </p:sp>
      <p:sp>
        <p:nvSpPr>
          <p:cNvPr id="3" name="Their claim"/>
          <p:cNvSpPr txBox="1"/>
          <p:nvPr/>
        </p:nvSpPr>
        <p:spPr>
          <a:xfrm>
            <a:off x="731520" y="868680"/>
            <a:ext cx="10698480" cy="1188720"/>
          </a:xfrm>
          <a:prstGeom prst="rect">
            <a:avLst/>
          </a:prstGeom>
          <a:noFill/>
          <a:ln/>
        </p:spPr>
        <p:txBody>
          <a:bodyPr wrap="square" lIns="0" tIns="0" rIns="0" bIns="0" rtlCol="0" anchor="t"/>
          <a:lstStyle/>
          <a:p>
            <a:pPr indent="0" marL="0">
              <a:buNone/>
            </a:pPr>
            <a:r>
              <a:rPr lang="en-US" sz="3000" b="1" dirty="0">
                <a:solidFill>
                  <a:schemeClr val="accent2"/>
                </a:solidFill>
              </a:rPr>
              <a:t>“</a:t>
            </a:r>
            <a:pPr indent="0" marL="0">
              <a:buNone/>
            </a:pPr>
            <a:r>
              <a:rPr lang="en-US" sz="3000" b="1" dirty="0">
                <a:solidFill>
                  <a:schemeClr val="accent3"/>
                </a:solidFill>
              </a:rPr>
              <a:t>EXPERTS AND FACT-CHECKERS CAN TELL WHAT'S FALSE.</a:t>
            </a:r>
            <a:pPr indent="0" marL="0">
              <a:buNone/>
            </a:pPr>
            <a:r>
              <a:rPr lang="en-US" sz="3000" b="1" dirty="0">
                <a:solidFill>
                  <a:schemeClr val="accent2"/>
                </a:solidFill>
              </a:rPr>
              <a:t>”</a:t>
            </a:r>
            <a:endParaRPr lang="en-US" sz="3000" dirty="0"/>
          </a:p>
        </p:txBody>
      </p:sp>
      <p:sp>
        <p:nvSpPr>
          <p:cNvPr id="4" name="Text 0"/>
          <p:cNvSpPr/>
          <p:nvPr>
            <p:ph idx="100" type="title" hasCustomPrompt="1"/>
          </p:nvPr>
        </p:nvSpPr>
        <p:spPr>
          <a:xfrm>
            <a:off x="731520" y="2286000"/>
            <a:ext cx="10698480" cy="1325880"/>
          </a:xfrm>
          <a:prstGeom prst="rect">
            <a:avLst/>
          </a:prstGeom>
          <a:noFill/>
          <a:ln/>
        </p:spPr>
        <p:txBody>
          <a:bodyPr wrap="square" lIns="0" tIns="0" rIns="0" bIns="0" rtlCol="0" anchor="t"/>
          <a:lstStyle/>
          <a:p>
            <a:pPr algn="l" indent="0" marL="0">
              <a:buNone/>
            </a:pPr>
            <a:r>
              <a:rPr lang="en-US" sz="3600" b="1" dirty="0">
                <a:solidFill>
                  <a:schemeClr val="accent1"/>
                </a:solidFill>
              </a:rPr>
              <a:t>THE CLEAR CASES ARE ALREADY HANDLED.</a:t>
            </a:r>
            <a:endParaRPr lang="en-US" sz="3600" dirty="0"/>
          </a:p>
        </p:txBody>
      </p:sp>
      <p:sp>
        <p:nvSpPr>
          <p:cNvPr id="5" name="Support"/>
          <p:cNvSpPr txBox="1"/>
          <p:nvPr/>
        </p:nvSpPr>
        <p:spPr>
          <a:xfrm>
            <a:off x="731520" y="3657600"/>
            <a:ext cx="10698480" cy="960120"/>
          </a:xfrm>
          <a:prstGeom prst="rect">
            <a:avLst/>
          </a:prstGeom>
          <a:noFill/>
          <a:ln/>
        </p:spPr>
        <p:txBody>
          <a:bodyPr wrap="square" lIns="0" tIns="0" rIns="0" bIns="0" rtlCol="0" anchor="t"/>
          <a:lstStyle/>
          <a:p>
            <a:pPr indent="0" marL="0">
              <a:spcAft>
                <a:spcPts val="200"/>
              </a:spcAft>
              <a:buNone/>
            </a:pPr>
            <a:r>
              <a:rPr lang="en-US" sz="2400" dirty="0">
                <a:solidFill>
                  <a:schemeClr val="tx1"/>
                </a:solidFill>
              </a:rPr>
              <a:t>Liability matters for the disputed ones.</a:t>
            </a:r>
            <a:endParaRPr lang="en-US" sz="2400" dirty="0"/>
          </a:p>
          <a:p>
            <a:pPr indent="0" marL="0">
              <a:spcAft>
                <a:spcPts val="200"/>
              </a:spcAft>
              <a:buNone/>
            </a:pPr>
            <a:r>
              <a:rPr lang="en-US" sz="2400" dirty="0">
                <a:solidFill>
                  <a:schemeClr val="tx1"/>
                </a:solidFill>
              </a:rPr>
              <a:t>Someone still has to make that call, fast.</a:t>
            </a:r>
            <a:endParaRPr lang="en-US" sz="2400" dirty="0"/>
          </a:p>
        </p:txBody>
      </p:sp>
      <p:sp>
        <p:nvSpPr>
          <p:cNvPr id="6" name="Ask label"/>
          <p:cNvSpPr txBox="1"/>
          <p:nvPr/>
        </p:nvSpPr>
        <p:spPr>
          <a:xfrm>
            <a:off x="731520" y="4800600"/>
            <a:ext cx="1828800" cy="274320"/>
          </a:xfrm>
          <a:prstGeom prst="rect">
            <a:avLst/>
          </a:prstGeom>
          <a:noFill/>
          <a:ln/>
        </p:spPr>
        <p:txBody>
          <a:bodyPr wrap="square" lIns="0" tIns="0" rIns="0" bIns="0" rtlCol="0" anchor="ctr"/>
          <a:lstStyle/>
          <a:p>
            <a:pPr indent="0" marL="0">
              <a:buNone/>
            </a:pPr>
            <a:r>
              <a:rPr lang="en-US" sz="1200" b="1" spc="200" kern="0" dirty="0">
                <a:solidFill>
                  <a:schemeClr val="accent3"/>
                </a:solidFill>
              </a:rPr>
              <a:t>ASK</a:t>
            </a:r>
            <a:endParaRPr lang="en-US" sz="1200" dirty="0"/>
          </a:p>
        </p:txBody>
      </p:sp>
      <p:sp>
        <p:nvSpPr>
          <p:cNvPr id="7" name="Ask"/>
          <p:cNvSpPr txBox="1"/>
          <p:nvPr/>
        </p:nvSpPr>
        <p:spPr>
          <a:xfrm>
            <a:off x="731520" y="5074920"/>
            <a:ext cx="10698480" cy="822960"/>
          </a:xfrm>
          <a:prstGeom prst="rect">
            <a:avLst/>
          </a:prstGeom>
          <a:noFill/>
          <a:ln/>
        </p:spPr>
        <p:txBody>
          <a:bodyPr wrap="square" lIns="0" tIns="0" rIns="0" bIns="0" rtlCol="0" anchor="t"/>
          <a:lstStyle/>
          <a:p>
            <a:pPr indent="0" marL="0">
              <a:buNone/>
            </a:pPr>
            <a:r>
              <a:rPr lang="en-US" sz="2400" i="1" dirty="0">
                <a:solidFill>
                  <a:schemeClr val="tx1"/>
                </a:solidFill>
              </a:rPr>
              <a:t>While the facts are still disputed, who decides?</a:t>
            </a:r>
            <a:endParaRPr lang="en-US" sz="2400" dirty="0"/>
          </a:p>
        </p:txBody>
      </p:sp>
      <p:sp>
        <p:nvSpPr>
          <p:cNvPr id="8" name="Owner"/>
          <p:cNvSpPr txBox="1"/>
          <p:nvPr/>
        </p:nvSpPr>
        <p:spPr>
          <a:xfrm>
            <a:off x="731520" y="6263640"/>
            <a:ext cx="2743200" cy="320040"/>
          </a:xfrm>
          <a:prstGeom prst="rect">
            <a:avLst/>
          </a:prstGeom>
          <a:noFill/>
          <a:ln/>
        </p:spPr>
        <p:txBody>
          <a:bodyPr wrap="square" lIns="0" tIns="0" rIns="0" bIns="0" rtlCol="0" anchor="ctr"/>
          <a:lstStyle/>
          <a:p>
            <a:pPr indent="0" marL="0">
              <a:buNone/>
            </a:pPr>
            <a:r>
              <a:rPr lang="en-US" sz="1300" b="1" spc="100" kern="0" dirty="0">
                <a:solidFill>
                  <a:schemeClr val="accent1"/>
                </a:solidFill>
              </a:rPr>
              <a:t>OWNER  ·  P2</a:t>
            </a:r>
            <a:endParaRPr lang="en-US" sz="1300" dirty="0"/>
          </a:p>
        </p:txBody>
      </p:sp>
      <p:sp>
        <p:nvSpPr>
          <p:cNvPr id="9" name="Nav ← Menu">
            <a:hlinkClick r:id="rId1" tooltip="← Menu" action="ppaction://hlinksldjump"/>
          </p:cNvPr>
          <p:cNvSpPr txBox="1"/>
          <p:nvPr/>
        </p:nvSpPr>
        <p:spPr>
          <a:xfrm>
            <a:off x="720547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 Menu</a:t>
            </a:r>
            <a:endParaRPr lang="en-US" sz="1300" dirty="0"/>
          </a:p>
        </p:txBody>
      </p:sp>
      <p:sp>
        <p:nvSpPr>
          <p:cNvPr id="10" name="Nav Our case">
            <a:hlinkClick r:id="rId2" tooltip="Our case" action="ppaction://hlinksldjump"/>
          </p:cNvPr>
          <p:cNvSpPr txBox="1"/>
          <p:nvPr/>
        </p:nvSpPr>
        <p:spPr>
          <a:xfrm>
            <a:off x="862279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Our case</a:t>
            </a:r>
            <a:endParaRPr lang="en-US" sz="1300" dirty="0"/>
          </a:p>
        </p:txBody>
      </p:sp>
      <p:sp>
        <p:nvSpPr>
          <p:cNvPr id="11" name="Nav The test">
            <a:hlinkClick r:id="rId3" tooltip="The test" action="ppaction://hlinksldjump"/>
          </p:cNvPr>
          <p:cNvSpPr txBox="1"/>
          <p:nvPr/>
        </p:nvSpPr>
        <p:spPr>
          <a:xfrm>
            <a:off x="1004011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The test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name="Slide 14">
    <p:spTree>
      <p:nvGrpSpPr>
        <p:cNvPr id="1" name=""/>
        <p:cNvGrpSpPr/>
        <p:nvPr/>
      </p:nvGrpSpPr>
      <p:grpSpPr>
        <a:xfrm>
          <a:off x="0" y="0"/>
          <a:ext cx="0" cy="0"/>
          <a:chOff x="0" y="0"/>
          <a:chExt cx="0" cy="0"/>
        </a:xfrm>
      </p:grpSpPr>
      <p:sp>
        <p:nvSpPr>
          <p:cNvPr id="2" name="Category"/>
          <p:cNvSpPr txBox="1"/>
          <p:nvPr/>
        </p:nvSpPr>
        <p:spPr>
          <a:xfrm>
            <a:off x="731520" y="365760"/>
            <a:ext cx="731520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GROUP 5  ·  ALGORITHMS</a:t>
            </a:r>
            <a:endParaRPr lang="en-US" sz="1400" dirty="0"/>
          </a:p>
        </p:txBody>
      </p:sp>
      <p:sp>
        <p:nvSpPr>
          <p:cNvPr id="3" name="Their claim"/>
          <p:cNvSpPr txBox="1"/>
          <p:nvPr/>
        </p:nvSpPr>
        <p:spPr>
          <a:xfrm>
            <a:off x="731520" y="868680"/>
            <a:ext cx="10698480" cy="1188720"/>
          </a:xfrm>
          <a:prstGeom prst="rect">
            <a:avLst/>
          </a:prstGeom>
          <a:noFill/>
          <a:ln/>
        </p:spPr>
        <p:txBody>
          <a:bodyPr wrap="square" lIns="0" tIns="0" rIns="0" bIns="0" rtlCol="0" anchor="t"/>
          <a:lstStyle/>
          <a:p>
            <a:pPr indent="0" marL="0">
              <a:buNone/>
            </a:pPr>
            <a:r>
              <a:rPr lang="en-US" sz="3000" b="1" dirty="0">
                <a:solidFill>
                  <a:schemeClr val="accent2"/>
                </a:solidFill>
              </a:rPr>
              <a:t>“</a:t>
            </a:r>
            <a:pPr indent="0" marL="0">
              <a:buNone/>
            </a:pPr>
            <a:r>
              <a:rPr lang="en-US" sz="3000" b="1" dirty="0">
                <a:solidFill>
                  <a:schemeClr val="accent3"/>
                </a:solidFill>
              </a:rPr>
              <a:t>PLATFORMS ACTIVELY AMPLIFY MISINFORMATION.</a:t>
            </a:r>
            <a:pPr indent="0" marL="0">
              <a:buNone/>
            </a:pPr>
            <a:r>
              <a:rPr lang="en-US" sz="3000" b="1" dirty="0">
                <a:solidFill>
                  <a:schemeClr val="accent2"/>
                </a:solidFill>
              </a:rPr>
              <a:t>”</a:t>
            </a:r>
            <a:endParaRPr lang="en-US" sz="3000" dirty="0"/>
          </a:p>
        </p:txBody>
      </p:sp>
      <p:sp>
        <p:nvSpPr>
          <p:cNvPr id="4" name="Text 0"/>
          <p:cNvSpPr/>
          <p:nvPr>
            <p:ph idx="100" type="title" hasCustomPrompt="1"/>
          </p:nvPr>
        </p:nvSpPr>
        <p:spPr>
          <a:xfrm>
            <a:off x="731520" y="2286000"/>
            <a:ext cx="10698480" cy="1325880"/>
          </a:xfrm>
          <a:prstGeom prst="rect">
            <a:avLst/>
          </a:prstGeom>
          <a:noFill/>
          <a:ln/>
        </p:spPr>
        <p:txBody>
          <a:bodyPr wrap="square" lIns="0" tIns="0" rIns="0" bIns="0" rtlCol="0" anchor="t"/>
          <a:lstStyle/>
          <a:p>
            <a:pPr algn="l" indent="0" marL="0">
              <a:buNone/>
            </a:pPr>
            <a:r>
              <a:rPr lang="en-US" sz="3600" b="1" dirty="0">
                <a:solidFill>
                  <a:schemeClr val="accent1"/>
                </a:solidFill>
              </a:rPr>
              <a:t>THEN FOCUS ON THE AMPLIFICATION.</a:t>
            </a:r>
            <a:endParaRPr lang="en-US" sz="3600" dirty="0"/>
          </a:p>
        </p:txBody>
      </p:sp>
      <p:sp>
        <p:nvSpPr>
          <p:cNvPr id="5" name="Support"/>
          <p:cNvSpPr txBox="1"/>
          <p:nvPr/>
        </p:nvSpPr>
        <p:spPr>
          <a:xfrm>
            <a:off x="731520" y="3657600"/>
            <a:ext cx="10698480" cy="960120"/>
          </a:xfrm>
          <a:prstGeom prst="rect">
            <a:avLst/>
          </a:prstGeom>
          <a:noFill/>
          <a:ln/>
        </p:spPr>
        <p:txBody>
          <a:bodyPr wrap="square" lIns="0" tIns="0" rIns="0" bIns="0" rtlCol="0" anchor="t"/>
          <a:lstStyle/>
          <a:p>
            <a:pPr indent="0" marL="0">
              <a:spcAft>
                <a:spcPts val="200"/>
              </a:spcAft>
              <a:buNone/>
            </a:pPr>
            <a:r>
              <a:rPr lang="en-US" sz="2400" dirty="0">
                <a:solidFill>
                  <a:schemeClr val="tx1"/>
                </a:solidFill>
              </a:rPr>
              <a:t>Ranking and recommendation are platform conduct.</a:t>
            </a:r>
            <a:endParaRPr lang="en-US" sz="2400" dirty="0"/>
          </a:p>
          <a:p>
            <a:pPr indent="0" marL="0">
              <a:spcAft>
                <a:spcPts val="200"/>
              </a:spcAft>
              <a:buNone/>
            </a:pPr>
            <a:r>
              <a:rPr lang="en-US" sz="2400" dirty="0">
                <a:solidFill>
                  <a:schemeClr val="tx1"/>
                </a:solidFill>
              </a:rPr>
              <a:t>A user's false statement is still the user's statement.</a:t>
            </a:r>
            <a:endParaRPr lang="en-US" sz="2400" dirty="0"/>
          </a:p>
        </p:txBody>
      </p:sp>
      <p:sp>
        <p:nvSpPr>
          <p:cNvPr id="6" name="Ask label"/>
          <p:cNvSpPr txBox="1"/>
          <p:nvPr/>
        </p:nvSpPr>
        <p:spPr>
          <a:xfrm>
            <a:off x="731520" y="4800600"/>
            <a:ext cx="1828800" cy="274320"/>
          </a:xfrm>
          <a:prstGeom prst="rect">
            <a:avLst/>
          </a:prstGeom>
          <a:noFill/>
          <a:ln/>
        </p:spPr>
        <p:txBody>
          <a:bodyPr wrap="square" lIns="0" tIns="0" rIns="0" bIns="0" rtlCol="0" anchor="ctr"/>
          <a:lstStyle/>
          <a:p>
            <a:pPr indent="0" marL="0">
              <a:buNone/>
            </a:pPr>
            <a:r>
              <a:rPr lang="en-US" sz="1200" b="1" spc="200" kern="0" dirty="0">
                <a:solidFill>
                  <a:schemeClr val="accent3"/>
                </a:solidFill>
              </a:rPr>
              <a:t>ASK</a:t>
            </a:r>
            <a:endParaRPr lang="en-US" sz="1200" dirty="0"/>
          </a:p>
        </p:txBody>
      </p:sp>
      <p:sp>
        <p:nvSpPr>
          <p:cNvPr id="7" name="Ask"/>
          <p:cNvSpPr txBox="1"/>
          <p:nvPr/>
        </p:nvSpPr>
        <p:spPr>
          <a:xfrm>
            <a:off x="731520" y="5074920"/>
            <a:ext cx="10698480" cy="822960"/>
          </a:xfrm>
          <a:prstGeom prst="rect">
            <a:avLst/>
          </a:prstGeom>
          <a:noFill/>
          <a:ln/>
        </p:spPr>
        <p:txBody>
          <a:bodyPr wrap="square" lIns="0" tIns="0" rIns="0" bIns="0" rtlCol="0" anchor="t"/>
          <a:lstStyle/>
          <a:p>
            <a:pPr indent="0" marL="0">
              <a:buNone/>
            </a:pPr>
            <a:r>
              <a:rPr lang="en-US" sz="2400" i="1" dirty="0">
                <a:solidFill>
                  <a:schemeClr val="tx1"/>
                </a:solidFill>
              </a:rPr>
              <a:t>Is your liability based on the false post, or the platform's conduct?</a:t>
            </a:r>
            <a:endParaRPr lang="en-US" sz="2400" dirty="0"/>
          </a:p>
        </p:txBody>
      </p:sp>
      <p:sp>
        <p:nvSpPr>
          <p:cNvPr id="8" name="Owner"/>
          <p:cNvSpPr txBox="1"/>
          <p:nvPr/>
        </p:nvSpPr>
        <p:spPr>
          <a:xfrm>
            <a:off x="731520" y="6263640"/>
            <a:ext cx="2743200" cy="320040"/>
          </a:xfrm>
          <a:prstGeom prst="rect">
            <a:avLst/>
          </a:prstGeom>
          <a:noFill/>
          <a:ln/>
        </p:spPr>
        <p:txBody>
          <a:bodyPr wrap="square" lIns="0" tIns="0" rIns="0" bIns="0" rtlCol="0" anchor="ctr"/>
          <a:lstStyle/>
          <a:p>
            <a:pPr indent="0" marL="0">
              <a:buNone/>
            </a:pPr>
            <a:r>
              <a:rPr lang="en-US" sz="1300" b="1" spc="100" kern="0" dirty="0">
                <a:solidFill>
                  <a:schemeClr val="accent1"/>
                </a:solidFill>
              </a:rPr>
              <a:t>OWNER  ·  P3</a:t>
            </a:r>
            <a:endParaRPr lang="en-US" sz="1300" dirty="0"/>
          </a:p>
        </p:txBody>
      </p:sp>
      <p:sp>
        <p:nvSpPr>
          <p:cNvPr id="9" name="Nav ← Menu">
            <a:hlinkClick r:id="rId1" tooltip="← Menu" action="ppaction://hlinksldjump"/>
          </p:cNvPr>
          <p:cNvSpPr txBox="1"/>
          <p:nvPr/>
        </p:nvSpPr>
        <p:spPr>
          <a:xfrm>
            <a:off x="720547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 Menu</a:t>
            </a:r>
            <a:endParaRPr lang="en-US" sz="1300" dirty="0"/>
          </a:p>
        </p:txBody>
      </p:sp>
      <p:sp>
        <p:nvSpPr>
          <p:cNvPr id="10" name="Nav Our case">
            <a:hlinkClick r:id="rId2" tooltip="Our case" action="ppaction://hlinksldjump"/>
          </p:cNvPr>
          <p:cNvSpPr txBox="1"/>
          <p:nvPr/>
        </p:nvSpPr>
        <p:spPr>
          <a:xfrm>
            <a:off x="862279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Our case</a:t>
            </a:r>
            <a:endParaRPr lang="en-US" sz="1300" dirty="0"/>
          </a:p>
        </p:txBody>
      </p:sp>
      <p:sp>
        <p:nvSpPr>
          <p:cNvPr id="11" name="Nav The test">
            <a:hlinkClick r:id="rId3" tooltip="The test" action="ppaction://hlinksldjump"/>
          </p:cNvPr>
          <p:cNvSpPr txBox="1"/>
          <p:nvPr/>
        </p:nvSpPr>
        <p:spPr>
          <a:xfrm>
            <a:off x="1004011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The test</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name="Slide 15">
    <p:spTree>
      <p:nvGrpSpPr>
        <p:cNvPr id="1" name=""/>
        <p:cNvGrpSpPr/>
        <p:nvPr/>
      </p:nvGrpSpPr>
      <p:grpSpPr>
        <a:xfrm>
          <a:off x="0" y="0"/>
          <a:ext cx="0" cy="0"/>
          <a:chOff x="0" y="0"/>
          <a:chExt cx="0" cy="0"/>
        </a:xfrm>
      </p:grpSpPr>
      <p:sp>
        <p:nvSpPr>
          <p:cNvPr id="2" name="Category"/>
          <p:cNvSpPr txBox="1"/>
          <p:nvPr/>
        </p:nvSpPr>
        <p:spPr>
          <a:xfrm>
            <a:off x="731520" y="365760"/>
            <a:ext cx="731520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GROUP 5  ·  PROFIT</a:t>
            </a:r>
            <a:endParaRPr lang="en-US" sz="1400" dirty="0"/>
          </a:p>
        </p:txBody>
      </p:sp>
      <p:sp>
        <p:nvSpPr>
          <p:cNvPr id="3" name="Their claim"/>
          <p:cNvSpPr txBox="1"/>
          <p:nvPr/>
        </p:nvSpPr>
        <p:spPr>
          <a:xfrm>
            <a:off x="731520" y="868680"/>
            <a:ext cx="10698480" cy="1188720"/>
          </a:xfrm>
          <a:prstGeom prst="rect">
            <a:avLst/>
          </a:prstGeom>
          <a:noFill/>
          <a:ln/>
        </p:spPr>
        <p:txBody>
          <a:bodyPr wrap="square" lIns="0" tIns="0" rIns="0" bIns="0" rtlCol="0" anchor="t"/>
          <a:lstStyle/>
          <a:p>
            <a:pPr indent="0" marL="0">
              <a:buNone/>
            </a:pPr>
            <a:r>
              <a:rPr lang="en-US" sz="3000" b="1" dirty="0">
                <a:solidFill>
                  <a:schemeClr val="accent2"/>
                </a:solidFill>
              </a:rPr>
              <a:t>“</a:t>
            </a:r>
            <a:pPr indent="0" marL="0">
              <a:buNone/>
            </a:pPr>
            <a:r>
              <a:rPr lang="en-US" sz="3000" b="1" dirty="0">
                <a:solidFill>
                  <a:schemeClr val="accent3"/>
                </a:solidFill>
              </a:rPr>
              <a:t>PLATFORMS PROFIT FROM ENGAGEMENT, INCLUDING MISINFORMATION.</a:t>
            </a:r>
            <a:pPr indent="0" marL="0">
              <a:buNone/>
            </a:pPr>
            <a:r>
              <a:rPr lang="en-US" sz="3000" b="1" dirty="0">
                <a:solidFill>
                  <a:schemeClr val="accent2"/>
                </a:solidFill>
              </a:rPr>
              <a:t>”</a:t>
            </a:r>
            <a:endParaRPr lang="en-US" sz="3000" dirty="0"/>
          </a:p>
        </p:txBody>
      </p:sp>
      <p:sp>
        <p:nvSpPr>
          <p:cNvPr id="4" name="Text 0"/>
          <p:cNvSpPr/>
          <p:nvPr>
            <p:ph idx="100" type="title" hasCustomPrompt="1"/>
          </p:nvPr>
        </p:nvSpPr>
        <p:spPr>
          <a:xfrm>
            <a:off x="731520" y="2286000"/>
            <a:ext cx="10698480" cy="1325880"/>
          </a:xfrm>
          <a:prstGeom prst="rect">
            <a:avLst/>
          </a:prstGeom>
          <a:noFill/>
          <a:ln/>
        </p:spPr>
        <p:txBody>
          <a:bodyPr wrap="square" lIns="0" tIns="0" rIns="0" bIns="0" rtlCol="0" anchor="t"/>
          <a:lstStyle/>
          <a:p>
            <a:pPr algn="l" indent="0" marL="0">
              <a:buNone/>
            </a:pPr>
            <a:r>
              <a:rPr lang="en-US" sz="3600" b="1" dirty="0">
                <a:solidFill>
                  <a:schemeClr val="accent1"/>
                </a:solidFill>
              </a:rPr>
              <a:t>THEY PROFIT FROM TRUE POSTS TOO.</a:t>
            </a:r>
            <a:endParaRPr lang="en-US" sz="3600" dirty="0"/>
          </a:p>
        </p:txBody>
      </p:sp>
      <p:sp>
        <p:nvSpPr>
          <p:cNvPr id="5" name="Support"/>
          <p:cNvSpPr txBox="1"/>
          <p:nvPr/>
        </p:nvSpPr>
        <p:spPr>
          <a:xfrm>
            <a:off x="731520" y="3657600"/>
            <a:ext cx="10698480" cy="960120"/>
          </a:xfrm>
          <a:prstGeom prst="rect">
            <a:avLst/>
          </a:prstGeom>
          <a:noFill/>
          <a:ln/>
        </p:spPr>
        <p:txBody>
          <a:bodyPr wrap="square" lIns="0" tIns="0" rIns="0" bIns="0" rtlCol="0" anchor="t"/>
          <a:lstStyle/>
          <a:p>
            <a:pPr indent="0" marL="0">
              <a:spcAft>
                <a:spcPts val="200"/>
              </a:spcAft>
              <a:buNone/>
            </a:pPr>
            <a:r>
              <a:rPr lang="en-US" sz="2400" dirty="0">
                <a:solidFill>
                  <a:schemeClr val="tx1"/>
                </a:solidFill>
              </a:rPr>
              <a:t>Profit shows who can afford rules,</a:t>
            </a:r>
            <a:endParaRPr lang="en-US" sz="2400" dirty="0"/>
          </a:p>
          <a:p>
            <a:pPr indent="0" marL="0">
              <a:spcAft>
                <a:spcPts val="200"/>
              </a:spcAft>
              <a:buNone/>
            </a:pPr>
            <a:r>
              <a:rPr lang="en-US" sz="2400" dirty="0">
                <a:solidFill>
                  <a:schemeClr val="tx1"/>
                </a:solidFill>
              </a:rPr>
              <a:t>not who made the false statement.</a:t>
            </a:r>
            <a:endParaRPr lang="en-US" sz="2400" dirty="0"/>
          </a:p>
        </p:txBody>
      </p:sp>
      <p:sp>
        <p:nvSpPr>
          <p:cNvPr id="6" name="Ask label"/>
          <p:cNvSpPr txBox="1"/>
          <p:nvPr/>
        </p:nvSpPr>
        <p:spPr>
          <a:xfrm>
            <a:off x="731520" y="4800600"/>
            <a:ext cx="1828800" cy="274320"/>
          </a:xfrm>
          <a:prstGeom prst="rect">
            <a:avLst/>
          </a:prstGeom>
          <a:noFill/>
          <a:ln/>
        </p:spPr>
        <p:txBody>
          <a:bodyPr wrap="square" lIns="0" tIns="0" rIns="0" bIns="0" rtlCol="0" anchor="ctr"/>
          <a:lstStyle/>
          <a:p>
            <a:pPr indent="0" marL="0">
              <a:buNone/>
            </a:pPr>
            <a:r>
              <a:rPr lang="en-US" sz="1200" b="1" spc="200" kern="0" dirty="0">
                <a:solidFill>
                  <a:schemeClr val="accent3"/>
                </a:solidFill>
              </a:rPr>
              <a:t>ASK</a:t>
            </a:r>
            <a:endParaRPr lang="en-US" sz="1200" dirty="0"/>
          </a:p>
        </p:txBody>
      </p:sp>
      <p:sp>
        <p:nvSpPr>
          <p:cNvPr id="7" name="Ask"/>
          <p:cNvSpPr txBox="1"/>
          <p:nvPr/>
        </p:nvSpPr>
        <p:spPr>
          <a:xfrm>
            <a:off x="731520" y="5074920"/>
            <a:ext cx="10698480" cy="822960"/>
          </a:xfrm>
          <a:prstGeom prst="rect">
            <a:avLst/>
          </a:prstGeom>
          <a:noFill/>
          <a:ln/>
        </p:spPr>
        <p:txBody>
          <a:bodyPr wrap="square" lIns="0" tIns="0" rIns="0" bIns="0" rtlCol="0" anchor="t"/>
          <a:lstStyle/>
          <a:p>
            <a:pPr indent="0" marL="0">
              <a:buNone/>
            </a:pPr>
            <a:r>
              <a:rPr lang="en-US" sz="2400" i="1" dirty="0">
                <a:solidFill>
                  <a:schemeClr val="tx1"/>
                </a:solidFill>
              </a:rPr>
              <a:t>If the platform earned nothing from a false post, would that change who's responsible?</a:t>
            </a:r>
            <a:endParaRPr lang="en-US" sz="2400" dirty="0"/>
          </a:p>
        </p:txBody>
      </p:sp>
      <p:sp>
        <p:nvSpPr>
          <p:cNvPr id="8" name="Owner"/>
          <p:cNvSpPr txBox="1"/>
          <p:nvPr/>
        </p:nvSpPr>
        <p:spPr>
          <a:xfrm>
            <a:off x="731520" y="6263640"/>
            <a:ext cx="2743200" cy="320040"/>
          </a:xfrm>
          <a:prstGeom prst="rect">
            <a:avLst/>
          </a:prstGeom>
          <a:noFill/>
          <a:ln/>
        </p:spPr>
        <p:txBody>
          <a:bodyPr wrap="square" lIns="0" tIns="0" rIns="0" bIns="0" rtlCol="0" anchor="ctr"/>
          <a:lstStyle/>
          <a:p>
            <a:pPr indent="0" marL="0">
              <a:buNone/>
            </a:pPr>
            <a:r>
              <a:rPr lang="en-US" sz="1300" b="1" spc="100" kern="0" dirty="0">
                <a:solidFill>
                  <a:schemeClr val="accent1"/>
                </a:solidFill>
              </a:rPr>
              <a:t>OWNER  ·  P3</a:t>
            </a:r>
            <a:endParaRPr lang="en-US" sz="1300" dirty="0"/>
          </a:p>
        </p:txBody>
      </p:sp>
      <p:sp>
        <p:nvSpPr>
          <p:cNvPr id="9" name="Nav ← Menu">
            <a:hlinkClick r:id="rId1" tooltip="← Menu" action="ppaction://hlinksldjump"/>
          </p:cNvPr>
          <p:cNvSpPr txBox="1"/>
          <p:nvPr/>
        </p:nvSpPr>
        <p:spPr>
          <a:xfrm>
            <a:off x="720547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 Menu</a:t>
            </a:r>
            <a:endParaRPr lang="en-US" sz="1300" dirty="0"/>
          </a:p>
        </p:txBody>
      </p:sp>
      <p:sp>
        <p:nvSpPr>
          <p:cNvPr id="10" name="Nav Our case">
            <a:hlinkClick r:id="rId2" tooltip="Our case" action="ppaction://hlinksldjump"/>
          </p:cNvPr>
          <p:cNvSpPr txBox="1"/>
          <p:nvPr/>
        </p:nvSpPr>
        <p:spPr>
          <a:xfrm>
            <a:off x="862279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Our case</a:t>
            </a:r>
            <a:endParaRPr lang="en-US" sz="1300" dirty="0"/>
          </a:p>
        </p:txBody>
      </p:sp>
      <p:sp>
        <p:nvSpPr>
          <p:cNvPr id="11" name="Nav The test">
            <a:hlinkClick r:id="rId3" tooltip="The test" action="ppaction://hlinksldjump"/>
          </p:cNvPr>
          <p:cNvSpPr txBox="1"/>
          <p:nvPr/>
        </p:nvSpPr>
        <p:spPr>
          <a:xfrm>
            <a:off x="1004011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The test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name="Slide 16">
    <p:spTree>
      <p:nvGrpSpPr>
        <p:cNvPr id="1" name=""/>
        <p:cNvGrpSpPr/>
        <p:nvPr/>
      </p:nvGrpSpPr>
      <p:grpSpPr>
        <a:xfrm>
          <a:off x="0" y="0"/>
          <a:ext cx="0" cy="0"/>
          <a:chOff x="0" y="0"/>
          <a:chExt cx="0" cy="0"/>
        </a:xfrm>
      </p:grpSpPr>
      <p:sp>
        <p:nvSpPr>
          <p:cNvPr id="2" name="Category"/>
          <p:cNvSpPr txBox="1"/>
          <p:nvPr/>
        </p:nvSpPr>
        <p:spPr>
          <a:xfrm>
            <a:off x="731520" y="365760"/>
            <a:ext cx="731520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GROUP 5  ·  INCENTIVES</a:t>
            </a:r>
            <a:endParaRPr lang="en-US" sz="1400" dirty="0"/>
          </a:p>
        </p:txBody>
      </p:sp>
      <p:sp>
        <p:nvSpPr>
          <p:cNvPr id="3" name="Their claim"/>
          <p:cNvSpPr txBox="1"/>
          <p:nvPr/>
        </p:nvSpPr>
        <p:spPr>
          <a:xfrm>
            <a:off x="731520" y="868680"/>
            <a:ext cx="10698480" cy="1188720"/>
          </a:xfrm>
          <a:prstGeom prst="rect">
            <a:avLst/>
          </a:prstGeom>
          <a:noFill/>
          <a:ln/>
        </p:spPr>
        <p:txBody>
          <a:bodyPr wrap="square" lIns="0" tIns="0" rIns="0" bIns="0" rtlCol="0" anchor="t"/>
          <a:lstStyle/>
          <a:p>
            <a:pPr indent="0" marL="0">
              <a:buNone/>
            </a:pPr>
            <a:r>
              <a:rPr lang="en-US" sz="3000" b="1" dirty="0">
                <a:solidFill>
                  <a:schemeClr val="accent2"/>
                </a:solidFill>
              </a:rPr>
              <a:t>“</a:t>
            </a:r>
            <a:pPr indent="0" marL="0">
              <a:buNone/>
            </a:pPr>
            <a:r>
              <a:rPr lang="en-US" sz="3000" b="1" dirty="0">
                <a:solidFill>
                  <a:schemeClr val="accent3"/>
                </a:solidFill>
              </a:rPr>
              <a:t>WITHOUT LIABILITY, PLATFORMS WON'T ACT.</a:t>
            </a:r>
            <a:pPr indent="0" marL="0">
              <a:buNone/>
            </a:pPr>
            <a:r>
              <a:rPr lang="en-US" sz="3000" b="1" dirty="0">
                <a:solidFill>
                  <a:schemeClr val="accent2"/>
                </a:solidFill>
              </a:rPr>
              <a:t>”</a:t>
            </a:r>
            <a:endParaRPr lang="en-US" sz="3000" dirty="0"/>
          </a:p>
        </p:txBody>
      </p:sp>
      <p:sp>
        <p:nvSpPr>
          <p:cNvPr id="4" name="Text 0"/>
          <p:cNvSpPr/>
          <p:nvPr>
            <p:ph idx="100" type="title" hasCustomPrompt="1"/>
          </p:nvPr>
        </p:nvSpPr>
        <p:spPr>
          <a:xfrm>
            <a:off x="731520" y="2286000"/>
            <a:ext cx="10698480" cy="1325880"/>
          </a:xfrm>
          <a:prstGeom prst="rect">
            <a:avLst/>
          </a:prstGeom>
          <a:noFill/>
          <a:ln/>
        </p:spPr>
        <p:txBody>
          <a:bodyPr wrap="square" lIns="0" tIns="0" rIns="0" bIns="0" rtlCol="0" anchor="t"/>
          <a:lstStyle/>
          <a:p>
            <a:pPr algn="l" indent="0" marL="0">
              <a:buNone/>
            </a:pPr>
            <a:r>
              <a:rPr lang="en-US" sz="3600" b="1" dirty="0">
                <a:solidFill>
                  <a:schemeClr val="accent1"/>
                </a:solidFill>
              </a:rPr>
              <a:t>LIABILITY CREATES AN INCENTIVE. BUT WHICH ONE?</a:t>
            </a:r>
            <a:endParaRPr lang="en-US" sz="3600" dirty="0"/>
          </a:p>
        </p:txBody>
      </p:sp>
      <p:sp>
        <p:nvSpPr>
          <p:cNvPr id="5" name="Support"/>
          <p:cNvSpPr txBox="1"/>
          <p:nvPr/>
        </p:nvSpPr>
        <p:spPr>
          <a:xfrm>
            <a:off x="731520" y="3657600"/>
            <a:ext cx="10698480" cy="960120"/>
          </a:xfrm>
          <a:prstGeom prst="rect">
            <a:avLst/>
          </a:prstGeom>
          <a:noFill/>
          <a:ln/>
        </p:spPr>
        <p:txBody>
          <a:bodyPr wrap="square" lIns="0" tIns="0" rIns="0" bIns="0" rtlCol="0" anchor="t"/>
          <a:lstStyle/>
          <a:p>
            <a:pPr indent="0" marL="0">
              <a:spcAft>
                <a:spcPts val="200"/>
              </a:spcAft>
              <a:buNone/>
            </a:pPr>
            <a:r>
              <a:rPr lang="en-US" sz="2400" b="1" dirty="0">
                <a:solidFill>
                  <a:schemeClr val="tx1"/>
                </a:solidFill>
              </a:rPr>
              <a:t>LEAVE IT UP  →  legal risk</a:t>
            </a:r>
            <a:endParaRPr lang="en-US" sz="2400" dirty="0"/>
          </a:p>
          <a:p>
            <a:pPr indent="0" marL="0">
              <a:spcAft>
                <a:spcPts val="200"/>
              </a:spcAft>
              <a:buNone/>
            </a:pPr>
            <a:r>
              <a:rPr lang="en-US" sz="2400" b="1" dirty="0">
                <a:solidFill>
                  <a:schemeClr val="tx1"/>
                </a:solidFill>
              </a:rPr>
              <a:t>REMOVE IT  →  lower legal risk</a:t>
            </a:r>
            <a:endParaRPr lang="en-US" sz="2400" dirty="0"/>
          </a:p>
        </p:txBody>
      </p:sp>
      <p:sp>
        <p:nvSpPr>
          <p:cNvPr id="6" name="Ask label"/>
          <p:cNvSpPr txBox="1"/>
          <p:nvPr/>
        </p:nvSpPr>
        <p:spPr>
          <a:xfrm>
            <a:off x="731520" y="4800600"/>
            <a:ext cx="1828800" cy="274320"/>
          </a:xfrm>
          <a:prstGeom prst="rect">
            <a:avLst/>
          </a:prstGeom>
          <a:noFill/>
          <a:ln/>
        </p:spPr>
        <p:txBody>
          <a:bodyPr wrap="square" lIns="0" tIns="0" rIns="0" bIns="0" rtlCol="0" anchor="ctr"/>
          <a:lstStyle/>
          <a:p>
            <a:pPr indent="0" marL="0">
              <a:buNone/>
            </a:pPr>
            <a:r>
              <a:rPr lang="en-US" sz="1200" b="1" spc="200" kern="0" dirty="0">
                <a:solidFill>
                  <a:schemeClr val="accent3"/>
                </a:solidFill>
              </a:rPr>
              <a:t>ASK</a:t>
            </a:r>
            <a:endParaRPr lang="en-US" sz="1200" dirty="0"/>
          </a:p>
        </p:txBody>
      </p:sp>
      <p:sp>
        <p:nvSpPr>
          <p:cNvPr id="7" name="Ask"/>
          <p:cNvSpPr txBox="1"/>
          <p:nvPr/>
        </p:nvSpPr>
        <p:spPr>
          <a:xfrm>
            <a:off x="731520" y="5074920"/>
            <a:ext cx="10698480" cy="822960"/>
          </a:xfrm>
          <a:prstGeom prst="rect">
            <a:avLst/>
          </a:prstGeom>
          <a:noFill/>
          <a:ln/>
        </p:spPr>
        <p:txBody>
          <a:bodyPr wrap="square" lIns="0" tIns="0" rIns="0" bIns="0" rtlCol="0" anchor="t"/>
          <a:lstStyle/>
          <a:p>
            <a:pPr indent="0" marL="0">
              <a:buNone/>
            </a:pPr>
            <a:r>
              <a:rPr lang="en-US" sz="2400" i="1" dirty="0">
                <a:solidFill>
                  <a:schemeClr val="tx1"/>
                </a:solidFill>
              </a:rPr>
              <a:t>What happens to the close calls?</a:t>
            </a:r>
            <a:endParaRPr lang="en-US" sz="2400" dirty="0"/>
          </a:p>
        </p:txBody>
      </p:sp>
      <p:sp>
        <p:nvSpPr>
          <p:cNvPr id="8" name="Owner"/>
          <p:cNvSpPr txBox="1"/>
          <p:nvPr/>
        </p:nvSpPr>
        <p:spPr>
          <a:xfrm>
            <a:off x="731520" y="6263640"/>
            <a:ext cx="2743200" cy="320040"/>
          </a:xfrm>
          <a:prstGeom prst="rect">
            <a:avLst/>
          </a:prstGeom>
          <a:noFill/>
          <a:ln/>
        </p:spPr>
        <p:txBody>
          <a:bodyPr wrap="square" lIns="0" tIns="0" rIns="0" bIns="0" rtlCol="0" anchor="ctr"/>
          <a:lstStyle/>
          <a:p>
            <a:pPr indent="0" marL="0">
              <a:buNone/>
            </a:pPr>
            <a:r>
              <a:rPr lang="en-US" sz="1300" b="1" spc="100" kern="0" dirty="0">
                <a:solidFill>
                  <a:schemeClr val="accent1"/>
                </a:solidFill>
              </a:rPr>
              <a:t>OWNER  ·  P4</a:t>
            </a:r>
            <a:endParaRPr lang="en-US" sz="1300" dirty="0"/>
          </a:p>
        </p:txBody>
      </p:sp>
      <p:sp>
        <p:nvSpPr>
          <p:cNvPr id="9" name="Nav ← Menu">
            <a:hlinkClick r:id="rId1" tooltip="← Menu" action="ppaction://hlinksldjump"/>
          </p:cNvPr>
          <p:cNvSpPr txBox="1"/>
          <p:nvPr/>
        </p:nvSpPr>
        <p:spPr>
          <a:xfrm>
            <a:off x="720547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 Menu</a:t>
            </a:r>
            <a:endParaRPr lang="en-US" sz="1300" dirty="0"/>
          </a:p>
        </p:txBody>
      </p:sp>
      <p:sp>
        <p:nvSpPr>
          <p:cNvPr id="10" name="Nav Our case">
            <a:hlinkClick r:id="rId2" tooltip="Our case" action="ppaction://hlinksldjump"/>
          </p:cNvPr>
          <p:cNvSpPr txBox="1"/>
          <p:nvPr/>
        </p:nvSpPr>
        <p:spPr>
          <a:xfrm>
            <a:off x="862279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Our case</a:t>
            </a:r>
            <a:endParaRPr lang="en-US" sz="1300" dirty="0"/>
          </a:p>
        </p:txBody>
      </p:sp>
      <p:sp>
        <p:nvSpPr>
          <p:cNvPr id="11" name="Nav The test">
            <a:hlinkClick r:id="rId3" tooltip="The test" action="ppaction://hlinksldjump"/>
          </p:cNvPr>
          <p:cNvSpPr txBox="1"/>
          <p:nvPr/>
        </p:nvSpPr>
        <p:spPr>
          <a:xfrm>
            <a:off x="1004011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The test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name="Slide 17">
    <p:spTree>
      <p:nvGrpSpPr>
        <p:cNvPr id="1" name=""/>
        <p:cNvGrpSpPr/>
        <p:nvPr/>
      </p:nvGrpSpPr>
      <p:grpSpPr>
        <a:xfrm>
          <a:off x="0" y="0"/>
          <a:ext cx="0" cy="0"/>
          <a:chOff x="0" y="0"/>
          <a:chExt cx="0" cy="0"/>
        </a:xfrm>
      </p:grpSpPr>
      <p:sp>
        <p:nvSpPr>
          <p:cNvPr id="2" name="Category"/>
          <p:cNvSpPr txBox="1"/>
          <p:nvPr/>
        </p:nvSpPr>
        <p:spPr>
          <a:xfrm>
            <a:off x="731520" y="365760"/>
            <a:ext cx="731520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GROUP 5  ·  MODERATION</a:t>
            </a:r>
            <a:endParaRPr lang="en-US" sz="1400" dirty="0"/>
          </a:p>
        </p:txBody>
      </p:sp>
      <p:sp>
        <p:nvSpPr>
          <p:cNvPr id="3" name="Their claim"/>
          <p:cNvSpPr txBox="1"/>
          <p:nvPr/>
        </p:nvSpPr>
        <p:spPr>
          <a:xfrm>
            <a:off x="731520" y="868680"/>
            <a:ext cx="10698480" cy="1188720"/>
          </a:xfrm>
          <a:prstGeom prst="rect">
            <a:avLst/>
          </a:prstGeom>
          <a:noFill/>
          <a:ln/>
        </p:spPr>
        <p:txBody>
          <a:bodyPr wrap="square" lIns="0" tIns="0" rIns="0" bIns="0" rtlCol="0" anchor="t"/>
          <a:lstStyle/>
          <a:p>
            <a:pPr indent="0" marL="0">
              <a:buNone/>
            </a:pPr>
            <a:r>
              <a:rPr lang="en-US" sz="3000" b="1" dirty="0">
                <a:solidFill>
                  <a:schemeClr val="accent2"/>
                </a:solidFill>
              </a:rPr>
              <a:t>“</a:t>
            </a:r>
            <a:pPr indent="0" marL="0">
              <a:buNone/>
            </a:pPr>
            <a:r>
              <a:rPr lang="en-US" sz="3000" b="1" dirty="0">
                <a:solidFill>
                  <a:schemeClr val="accent3"/>
                </a:solidFill>
              </a:rPr>
              <a:t>THEY ALREADY MODERATE, AND AI CAN DO IT AT SCALE.</a:t>
            </a:r>
            <a:pPr indent="0" marL="0">
              <a:buNone/>
            </a:pPr>
            <a:r>
              <a:rPr lang="en-US" sz="3000" b="1" dirty="0">
                <a:solidFill>
                  <a:schemeClr val="accent2"/>
                </a:solidFill>
              </a:rPr>
              <a:t>”</a:t>
            </a:r>
            <a:endParaRPr lang="en-US" sz="3000" dirty="0"/>
          </a:p>
        </p:txBody>
      </p:sp>
      <p:sp>
        <p:nvSpPr>
          <p:cNvPr id="4" name="Text 0"/>
          <p:cNvSpPr/>
          <p:nvPr>
            <p:ph idx="100" type="title" hasCustomPrompt="1"/>
          </p:nvPr>
        </p:nvSpPr>
        <p:spPr>
          <a:xfrm>
            <a:off x="731520" y="2286000"/>
            <a:ext cx="10698480" cy="1325880"/>
          </a:xfrm>
          <a:prstGeom prst="rect">
            <a:avLst/>
          </a:prstGeom>
          <a:noFill/>
          <a:ln/>
        </p:spPr>
        <p:txBody>
          <a:bodyPr wrap="square" lIns="0" tIns="0" rIns="0" bIns="0" rtlCol="0" anchor="t"/>
          <a:lstStyle/>
          <a:p>
            <a:pPr algn="l" indent="0" marL="0">
              <a:buNone/>
            </a:pPr>
            <a:r>
              <a:rPr lang="en-US" sz="3600" b="1" dirty="0">
                <a:solidFill>
                  <a:schemeClr val="accent1"/>
                </a:solidFill>
              </a:rPr>
              <a:t>MODERATING BY CHOICE ≠ MODERATING UNDER THREAT OF A LAWSUIT.</a:t>
            </a:r>
            <a:endParaRPr lang="en-US" sz="3600" dirty="0"/>
          </a:p>
        </p:txBody>
      </p:sp>
      <p:sp>
        <p:nvSpPr>
          <p:cNvPr id="5" name="Support"/>
          <p:cNvSpPr txBox="1"/>
          <p:nvPr/>
        </p:nvSpPr>
        <p:spPr>
          <a:xfrm>
            <a:off x="731520" y="3657600"/>
            <a:ext cx="10698480" cy="960120"/>
          </a:xfrm>
          <a:prstGeom prst="rect">
            <a:avLst/>
          </a:prstGeom>
          <a:noFill/>
          <a:ln/>
        </p:spPr>
        <p:txBody>
          <a:bodyPr wrap="square" lIns="0" tIns="0" rIns="0" bIns="0" rtlCol="0" anchor="t"/>
          <a:lstStyle/>
          <a:p>
            <a:pPr indent="0" marL="0">
              <a:spcAft>
                <a:spcPts val="200"/>
              </a:spcAft>
              <a:buNone/>
            </a:pPr>
            <a:r>
              <a:rPr lang="en-US" sz="2400" dirty="0">
                <a:solidFill>
                  <a:schemeClr val="tx1"/>
                </a:solidFill>
              </a:rPr>
              <a:t>Under liability, close calls go to "delete".</a:t>
            </a:r>
            <a:endParaRPr lang="en-US" sz="2400" dirty="0"/>
          </a:p>
        </p:txBody>
      </p:sp>
      <p:sp>
        <p:nvSpPr>
          <p:cNvPr id="6" name="Ask label"/>
          <p:cNvSpPr txBox="1"/>
          <p:nvPr/>
        </p:nvSpPr>
        <p:spPr>
          <a:xfrm>
            <a:off x="731520" y="4800600"/>
            <a:ext cx="1828800" cy="274320"/>
          </a:xfrm>
          <a:prstGeom prst="rect">
            <a:avLst/>
          </a:prstGeom>
          <a:noFill/>
          <a:ln/>
        </p:spPr>
        <p:txBody>
          <a:bodyPr wrap="square" lIns="0" tIns="0" rIns="0" bIns="0" rtlCol="0" anchor="ctr"/>
          <a:lstStyle/>
          <a:p>
            <a:pPr indent="0" marL="0">
              <a:buNone/>
            </a:pPr>
            <a:r>
              <a:rPr lang="en-US" sz="1200" b="1" spc="200" kern="0" dirty="0">
                <a:solidFill>
                  <a:schemeClr val="accent3"/>
                </a:solidFill>
              </a:rPr>
              <a:t>ASK</a:t>
            </a:r>
            <a:endParaRPr lang="en-US" sz="1200" dirty="0"/>
          </a:p>
        </p:txBody>
      </p:sp>
      <p:sp>
        <p:nvSpPr>
          <p:cNvPr id="7" name="Ask"/>
          <p:cNvSpPr txBox="1"/>
          <p:nvPr/>
        </p:nvSpPr>
        <p:spPr>
          <a:xfrm>
            <a:off x="731520" y="5074920"/>
            <a:ext cx="10698480" cy="822960"/>
          </a:xfrm>
          <a:prstGeom prst="rect">
            <a:avLst/>
          </a:prstGeom>
          <a:noFill/>
          <a:ln/>
        </p:spPr>
        <p:txBody>
          <a:bodyPr wrap="square" lIns="0" tIns="0" rIns="0" bIns="0" rtlCol="0" anchor="t"/>
          <a:lstStyle/>
          <a:p>
            <a:pPr indent="0" marL="0">
              <a:buNone/>
            </a:pPr>
            <a:r>
              <a:rPr lang="en-US" sz="2400" i="1" dirty="0">
                <a:solidFill>
                  <a:schemeClr val="tx1"/>
                </a:solidFill>
              </a:rPr>
              <a:t>Under your rule, what does it cost to remove a true post?</a:t>
            </a:r>
            <a:endParaRPr lang="en-US" sz="2400" dirty="0"/>
          </a:p>
        </p:txBody>
      </p:sp>
      <p:sp>
        <p:nvSpPr>
          <p:cNvPr id="8" name="Owner"/>
          <p:cNvSpPr txBox="1"/>
          <p:nvPr/>
        </p:nvSpPr>
        <p:spPr>
          <a:xfrm>
            <a:off x="731520" y="6263640"/>
            <a:ext cx="2743200" cy="320040"/>
          </a:xfrm>
          <a:prstGeom prst="rect">
            <a:avLst/>
          </a:prstGeom>
          <a:noFill/>
          <a:ln/>
        </p:spPr>
        <p:txBody>
          <a:bodyPr wrap="square" lIns="0" tIns="0" rIns="0" bIns="0" rtlCol="0" anchor="ctr"/>
          <a:lstStyle/>
          <a:p>
            <a:pPr indent="0" marL="0">
              <a:buNone/>
            </a:pPr>
            <a:r>
              <a:rPr lang="en-US" sz="1300" b="1" spc="100" kern="0" dirty="0">
                <a:solidFill>
                  <a:schemeClr val="accent1"/>
                </a:solidFill>
              </a:rPr>
              <a:t>OWNER  ·  P4</a:t>
            </a:r>
            <a:endParaRPr lang="en-US" sz="1300" dirty="0"/>
          </a:p>
        </p:txBody>
      </p:sp>
      <p:sp>
        <p:nvSpPr>
          <p:cNvPr id="9" name="Nav ← Menu">
            <a:hlinkClick r:id="rId1" tooltip="← Menu" action="ppaction://hlinksldjump"/>
          </p:cNvPr>
          <p:cNvSpPr txBox="1"/>
          <p:nvPr/>
        </p:nvSpPr>
        <p:spPr>
          <a:xfrm>
            <a:off x="720547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 Menu</a:t>
            </a:r>
            <a:endParaRPr lang="en-US" sz="1300" dirty="0"/>
          </a:p>
        </p:txBody>
      </p:sp>
      <p:sp>
        <p:nvSpPr>
          <p:cNvPr id="10" name="Nav Our case">
            <a:hlinkClick r:id="rId2" tooltip="Our case" action="ppaction://hlinksldjump"/>
          </p:cNvPr>
          <p:cNvSpPr txBox="1"/>
          <p:nvPr/>
        </p:nvSpPr>
        <p:spPr>
          <a:xfrm>
            <a:off x="862279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Our case</a:t>
            </a:r>
            <a:endParaRPr lang="en-US" sz="1300" dirty="0"/>
          </a:p>
        </p:txBody>
      </p:sp>
      <p:sp>
        <p:nvSpPr>
          <p:cNvPr id="11" name="Nav The test">
            <a:hlinkClick r:id="rId3" tooltip="The test" action="ppaction://hlinksldjump"/>
          </p:cNvPr>
          <p:cNvSpPr txBox="1"/>
          <p:nvPr/>
        </p:nvSpPr>
        <p:spPr>
          <a:xfrm>
            <a:off x="1004011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The test</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name="Slide 18">
    <p:spTree>
      <p:nvGrpSpPr>
        <p:cNvPr id="1" name=""/>
        <p:cNvGrpSpPr/>
        <p:nvPr/>
      </p:nvGrpSpPr>
      <p:grpSpPr>
        <a:xfrm>
          <a:off x="0" y="0"/>
          <a:ext cx="0" cy="0"/>
          <a:chOff x="0" y="0"/>
          <a:chExt cx="0" cy="0"/>
        </a:xfrm>
      </p:grpSpPr>
      <p:sp>
        <p:nvSpPr>
          <p:cNvPr id="2" name="Category"/>
          <p:cNvSpPr txBox="1"/>
          <p:nvPr/>
        </p:nvSpPr>
        <p:spPr>
          <a:xfrm>
            <a:off x="731520" y="365760"/>
            <a:ext cx="731520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GROUP 5  ·  HARM &amp; VICTIMS</a:t>
            </a:r>
            <a:endParaRPr lang="en-US" sz="1400" dirty="0"/>
          </a:p>
        </p:txBody>
      </p:sp>
      <p:sp>
        <p:nvSpPr>
          <p:cNvPr id="3" name="Their claim"/>
          <p:cNvSpPr txBox="1"/>
          <p:nvPr/>
        </p:nvSpPr>
        <p:spPr>
          <a:xfrm>
            <a:off x="731520" y="868680"/>
            <a:ext cx="10698480" cy="1188720"/>
          </a:xfrm>
          <a:prstGeom prst="rect">
            <a:avLst/>
          </a:prstGeom>
          <a:noFill/>
          <a:ln/>
        </p:spPr>
        <p:txBody>
          <a:bodyPr wrap="square" lIns="0" tIns="0" rIns="0" bIns="0" rtlCol="0" anchor="t"/>
          <a:lstStyle/>
          <a:p>
            <a:pPr indent="0" marL="0">
              <a:buNone/>
            </a:pPr>
            <a:r>
              <a:rPr lang="en-US" sz="3000" b="1" dirty="0">
                <a:solidFill>
                  <a:schemeClr val="accent2"/>
                </a:solidFill>
              </a:rPr>
              <a:t>“</a:t>
            </a:r>
            <a:pPr indent="0" marL="0">
              <a:buNone/>
            </a:pPr>
            <a:r>
              <a:rPr lang="en-US" sz="3000" b="1" dirty="0">
                <a:solidFill>
                  <a:schemeClr val="accent3"/>
                </a:solidFill>
              </a:rPr>
              <a:t>MISINFORMATION CAUSES REAL-WORLD HARM.</a:t>
            </a:r>
            <a:pPr indent="0" marL="0">
              <a:buNone/>
            </a:pPr>
            <a:r>
              <a:rPr lang="en-US" sz="3000" b="1" dirty="0">
                <a:solidFill>
                  <a:schemeClr val="accent2"/>
                </a:solidFill>
              </a:rPr>
              <a:t>”</a:t>
            </a:r>
            <a:endParaRPr lang="en-US" sz="3000" dirty="0"/>
          </a:p>
        </p:txBody>
      </p:sp>
      <p:sp>
        <p:nvSpPr>
          <p:cNvPr id="4" name="Text 0"/>
          <p:cNvSpPr/>
          <p:nvPr>
            <p:ph idx="100" type="title" hasCustomPrompt="1"/>
          </p:nvPr>
        </p:nvSpPr>
        <p:spPr>
          <a:xfrm>
            <a:off x="731520" y="2286000"/>
            <a:ext cx="10698480" cy="1325880"/>
          </a:xfrm>
          <a:prstGeom prst="rect">
            <a:avLst/>
          </a:prstGeom>
          <a:noFill/>
          <a:ln/>
        </p:spPr>
        <p:txBody>
          <a:bodyPr wrap="square" lIns="0" tIns="0" rIns="0" bIns="0" rtlCol="0" anchor="t"/>
          <a:lstStyle/>
          <a:p>
            <a:pPr algn="l" indent="0" marL="0">
              <a:buNone/>
            </a:pPr>
            <a:r>
              <a:rPr lang="en-US" sz="3600" b="1" dirty="0">
                <a:solidFill>
                  <a:schemeClr val="accent1"/>
                </a:solidFill>
              </a:rPr>
              <a:t>WE AGREE.</a:t>
            </a:r>
            <a:endParaRPr lang="en-US" sz="3600" dirty="0"/>
          </a:p>
        </p:txBody>
      </p:sp>
      <p:sp>
        <p:nvSpPr>
          <p:cNvPr id="5" name="Support"/>
          <p:cNvSpPr txBox="1"/>
          <p:nvPr/>
        </p:nvSpPr>
        <p:spPr>
          <a:xfrm>
            <a:off x="731520" y="3657600"/>
            <a:ext cx="10698480" cy="960120"/>
          </a:xfrm>
          <a:prstGeom prst="rect">
            <a:avLst/>
          </a:prstGeom>
          <a:noFill/>
          <a:ln/>
        </p:spPr>
        <p:txBody>
          <a:bodyPr wrap="square" lIns="0" tIns="0" rIns="0" bIns="0" rtlCol="0" anchor="t"/>
          <a:lstStyle/>
          <a:p>
            <a:pPr indent="0" marL="0">
              <a:spcAft>
                <a:spcPts val="200"/>
              </a:spcAft>
              <a:buNone/>
            </a:pPr>
            <a:r>
              <a:rPr lang="en-US" sz="2400" dirty="0">
                <a:solidFill>
                  <a:schemeClr val="tx1"/>
                </a:solidFill>
              </a:rPr>
              <a:t>But harm proves there is a problem.</a:t>
            </a:r>
            <a:endParaRPr lang="en-US" sz="2400" dirty="0"/>
          </a:p>
          <a:p>
            <a:pPr indent="0" marL="0">
              <a:spcAft>
                <a:spcPts val="200"/>
              </a:spcAft>
              <a:buNone/>
            </a:pPr>
            <a:r>
              <a:rPr lang="en-US" sz="2400" dirty="0">
                <a:solidFill>
                  <a:schemeClr val="tx1"/>
                </a:solidFill>
              </a:rPr>
              <a:t>It does not prove </a:t>
            </a:r>
            <a:pPr indent="0" marL="0">
              <a:spcAft>
                <a:spcPts val="200"/>
              </a:spcAft>
              <a:buNone/>
            </a:pPr>
            <a:r>
              <a:rPr lang="en-US" sz="2400" b="1" dirty="0">
                <a:solidFill>
                  <a:schemeClr val="accent1"/>
                </a:solidFill>
              </a:rPr>
              <a:t>who should be legally liable.</a:t>
            </a:r>
            <a:endParaRPr lang="en-US" sz="2400" dirty="0"/>
          </a:p>
        </p:txBody>
      </p:sp>
      <p:sp>
        <p:nvSpPr>
          <p:cNvPr id="6" name="Ask label"/>
          <p:cNvSpPr txBox="1"/>
          <p:nvPr/>
        </p:nvSpPr>
        <p:spPr>
          <a:xfrm>
            <a:off x="731520" y="4800600"/>
            <a:ext cx="1828800" cy="274320"/>
          </a:xfrm>
          <a:prstGeom prst="rect">
            <a:avLst/>
          </a:prstGeom>
          <a:noFill/>
          <a:ln/>
        </p:spPr>
        <p:txBody>
          <a:bodyPr wrap="square" lIns="0" tIns="0" rIns="0" bIns="0" rtlCol="0" anchor="ctr"/>
          <a:lstStyle/>
          <a:p>
            <a:pPr indent="0" marL="0">
              <a:buNone/>
            </a:pPr>
            <a:r>
              <a:rPr lang="en-US" sz="1200" b="1" spc="200" kern="0" dirty="0">
                <a:solidFill>
                  <a:schemeClr val="accent3"/>
                </a:solidFill>
              </a:rPr>
              <a:t>ASK</a:t>
            </a:r>
            <a:endParaRPr lang="en-US" sz="1200" dirty="0"/>
          </a:p>
        </p:txBody>
      </p:sp>
      <p:sp>
        <p:nvSpPr>
          <p:cNvPr id="7" name="Ask"/>
          <p:cNvSpPr txBox="1"/>
          <p:nvPr/>
        </p:nvSpPr>
        <p:spPr>
          <a:xfrm>
            <a:off x="731520" y="5074920"/>
            <a:ext cx="10698480" cy="822960"/>
          </a:xfrm>
          <a:prstGeom prst="rect">
            <a:avLst/>
          </a:prstGeom>
          <a:noFill/>
          <a:ln/>
        </p:spPr>
        <p:txBody>
          <a:bodyPr wrap="square" lIns="0" tIns="0" rIns="0" bIns="0" rtlCol="0" anchor="t"/>
          <a:lstStyle/>
          <a:p>
            <a:pPr indent="0" marL="0">
              <a:buNone/>
            </a:pPr>
            <a:r>
              <a:rPr lang="en-US" sz="2400" i="1" dirty="0">
                <a:solidFill>
                  <a:schemeClr val="tx1"/>
                </a:solidFill>
              </a:rPr>
              <a:t>What makes the platform legally responsible for another person's statement?</a:t>
            </a:r>
            <a:endParaRPr lang="en-US" sz="2400" dirty="0"/>
          </a:p>
        </p:txBody>
      </p:sp>
      <p:sp>
        <p:nvSpPr>
          <p:cNvPr id="8" name="Owner"/>
          <p:cNvSpPr txBox="1"/>
          <p:nvPr/>
        </p:nvSpPr>
        <p:spPr>
          <a:xfrm>
            <a:off x="731520" y="6263640"/>
            <a:ext cx="2743200" cy="320040"/>
          </a:xfrm>
          <a:prstGeom prst="rect">
            <a:avLst/>
          </a:prstGeom>
          <a:noFill/>
          <a:ln/>
        </p:spPr>
        <p:txBody>
          <a:bodyPr wrap="square" lIns="0" tIns="0" rIns="0" bIns="0" rtlCol="0" anchor="ctr"/>
          <a:lstStyle/>
          <a:p>
            <a:pPr indent="0" marL="0">
              <a:buNone/>
            </a:pPr>
            <a:r>
              <a:rPr lang="en-US" sz="1300" b="1" spc="100" kern="0" dirty="0">
                <a:solidFill>
                  <a:schemeClr val="accent1"/>
                </a:solidFill>
              </a:rPr>
              <a:t>OWNER  ·  P5</a:t>
            </a:r>
            <a:endParaRPr lang="en-US" sz="1300" dirty="0"/>
          </a:p>
        </p:txBody>
      </p:sp>
      <p:sp>
        <p:nvSpPr>
          <p:cNvPr id="9" name="Nav ← Menu">
            <a:hlinkClick r:id="rId1" tooltip="← Menu" action="ppaction://hlinksldjump"/>
          </p:cNvPr>
          <p:cNvSpPr txBox="1"/>
          <p:nvPr/>
        </p:nvSpPr>
        <p:spPr>
          <a:xfrm>
            <a:off x="720547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 Menu</a:t>
            </a:r>
            <a:endParaRPr lang="en-US" sz="1300" dirty="0"/>
          </a:p>
        </p:txBody>
      </p:sp>
      <p:sp>
        <p:nvSpPr>
          <p:cNvPr id="10" name="Nav Our case">
            <a:hlinkClick r:id="rId2" tooltip="Our case" action="ppaction://hlinksldjump"/>
          </p:cNvPr>
          <p:cNvSpPr txBox="1"/>
          <p:nvPr/>
        </p:nvSpPr>
        <p:spPr>
          <a:xfrm>
            <a:off x="862279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Our case</a:t>
            </a:r>
            <a:endParaRPr lang="en-US" sz="1300" dirty="0"/>
          </a:p>
        </p:txBody>
      </p:sp>
      <p:sp>
        <p:nvSpPr>
          <p:cNvPr id="11" name="Nav The test">
            <a:hlinkClick r:id="rId3" tooltip="The test" action="ppaction://hlinksldjump"/>
          </p:cNvPr>
          <p:cNvSpPr txBox="1"/>
          <p:nvPr/>
        </p:nvSpPr>
        <p:spPr>
          <a:xfrm>
            <a:off x="1004011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The test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name="Slide 19">
    <p:spTree>
      <p:nvGrpSpPr>
        <p:cNvPr id="1" name=""/>
        <p:cNvGrpSpPr/>
        <p:nvPr/>
      </p:nvGrpSpPr>
      <p:grpSpPr>
        <a:xfrm>
          <a:off x="0" y="0"/>
          <a:ext cx="0" cy="0"/>
          <a:chOff x="0" y="0"/>
          <a:chExt cx="0" cy="0"/>
        </a:xfrm>
      </p:grpSpPr>
      <p:sp>
        <p:nvSpPr>
          <p:cNvPr id="2" name="Category"/>
          <p:cNvSpPr txBox="1"/>
          <p:nvPr/>
        </p:nvSpPr>
        <p:spPr>
          <a:xfrm>
            <a:off x="731520" y="365760"/>
            <a:ext cx="7315200" cy="365760"/>
          </a:xfrm>
          <a:prstGeom prst="rect">
            <a:avLst/>
          </a:prstGeom>
          <a:noFill/>
          <a:ln/>
        </p:spPr>
        <p:txBody>
          <a:bodyPr wrap="square" lIns="0" tIns="0" rIns="0" bIns="0" rtlCol="0" anchor="ctr"/>
          <a:lstStyle/>
          <a:p>
            <a:pPr indent="0" marL="0">
              <a:buNone/>
            </a:pPr>
            <a:r>
              <a:rPr lang="en-US" sz="1400" b="1" spc="200" kern="0" dirty="0">
                <a:solidFill>
                  <a:schemeClr val="accent2"/>
                </a:solidFill>
              </a:rPr>
              <a:t>GROUP 5  ·  REGULATION</a:t>
            </a:r>
            <a:endParaRPr lang="en-US" sz="1400" dirty="0"/>
          </a:p>
        </p:txBody>
      </p:sp>
      <p:sp>
        <p:nvSpPr>
          <p:cNvPr id="3" name="Their claim"/>
          <p:cNvSpPr txBox="1"/>
          <p:nvPr/>
        </p:nvSpPr>
        <p:spPr>
          <a:xfrm>
            <a:off x="731520" y="868680"/>
            <a:ext cx="10698480" cy="1188720"/>
          </a:xfrm>
          <a:prstGeom prst="rect">
            <a:avLst/>
          </a:prstGeom>
          <a:noFill/>
          <a:ln/>
        </p:spPr>
        <p:txBody>
          <a:bodyPr wrap="square" lIns="0" tIns="0" rIns="0" bIns="0" rtlCol="0" anchor="t"/>
          <a:lstStyle/>
          <a:p>
            <a:pPr indent="0" marL="0">
              <a:buNone/>
            </a:pPr>
            <a:r>
              <a:rPr lang="en-US" sz="3000" b="1" dirty="0">
                <a:solidFill>
                  <a:schemeClr val="accent2"/>
                </a:solidFill>
              </a:rPr>
              <a:t>“</a:t>
            </a:r>
            <a:pPr indent="0" marL="0">
              <a:buNone/>
            </a:pPr>
            <a:r>
              <a:rPr lang="en-US" sz="3000" b="1" dirty="0">
                <a:solidFill>
                  <a:schemeClr val="accent3"/>
                </a:solidFill>
              </a:rPr>
              <a:t>EUROPE REGULATES PLATFORMS. COURTS ARE MOVING.</a:t>
            </a:r>
            <a:pPr indent="0" marL="0">
              <a:buNone/>
            </a:pPr>
            <a:r>
              <a:rPr lang="en-US" sz="3000" b="1" dirty="0">
                <a:solidFill>
                  <a:schemeClr val="accent2"/>
                </a:solidFill>
              </a:rPr>
              <a:t>”</a:t>
            </a:r>
            <a:endParaRPr lang="en-US" sz="3000" dirty="0"/>
          </a:p>
        </p:txBody>
      </p:sp>
      <p:sp>
        <p:nvSpPr>
          <p:cNvPr id="4" name="Text 0"/>
          <p:cNvSpPr/>
          <p:nvPr>
            <p:ph idx="100" type="title" hasCustomPrompt="1"/>
          </p:nvPr>
        </p:nvSpPr>
        <p:spPr>
          <a:xfrm>
            <a:off x="731520" y="2286000"/>
            <a:ext cx="10698480" cy="1325880"/>
          </a:xfrm>
          <a:prstGeom prst="rect">
            <a:avLst/>
          </a:prstGeom>
          <a:noFill/>
          <a:ln/>
        </p:spPr>
        <p:txBody>
          <a:bodyPr wrap="square" lIns="0" tIns="0" rIns="0" bIns="0" rtlCol="0" anchor="t"/>
          <a:lstStyle/>
          <a:p>
            <a:pPr algn="l" indent="0" marL="0">
              <a:buNone/>
            </a:pPr>
            <a:r>
              <a:rPr lang="en-US" sz="3600" b="1" dirty="0">
                <a:solidFill>
                  <a:schemeClr val="accent1"/>
                </a:solidFill>
              </a:rPr>
              <a:t>THEY TARGET CONDUCT AND ILLEGAL CONTENT.</a:t>
            </a:r>
            <a:endParaRPr lang="en-US" sz="3600" dirty="0"/>
          </a:p>
        </p:txBody>
      </p:sp>
      <p:sp>
        <p:nvSpPr>
          <p:cNvPr id="5" name="Support"/>
          <p:cNvSpPr txBox="1"/>
          <p:nvPr/>
        </p:nvSpPr>
        <p:spPr>
          <a:xfrm>
            <a:off x="731520" y="3657600"/>
            <a:ext cx="10698480" cy="960120"/>
          </a:xfrm>
          <a:prstGeom prst="rect">
            <a:avLst/>
          </a:prstGeom>
          <a:noFill/>
          <a:ln/>
        </p:spPr>
        <p:txBody>
          <a:bodyPr wrap="square" lIns="0" tIns="0" rIns="0" bIns="0" rtlCol="0" anchor="t"/>
          <a:lstStyle/>
          <a:p>
            <a:pPr indent="0" marL="0">
              <a:spcAft>
                <a:spcPts val="200"/>
              </a:spcAft>
              <a:buNone/>
            </a:pPr>
            <a:r>
              <a:rPr lang="en-US" sz="2400" dirty="0">
                <a:solidFill>
                  <a:schemeClr val="tx1"/>
                </a:solidFill>
              </a:rPr>
              <a:t>Europe: illegal content and big platforms' systems.</a:t>
            </a:r>
            <a:endParaRPr lang="en-US" sz="2400" dirty="0"/>
          </a:p>
          <a:p>
            <a:pPr indent="0" marL="0">
              <a:spcAft>
                <a:spcPts val="200"/>
              </a:spcAft>
              <a:buNone/>
            </a:pPr>
            <a:r>
              <a:rPr lang="en-US" sz="2400" dirty="0">
                <a:solidFill>
                  <a:schemeClr val="tx1"/>
                </a:solidFill>
              </a:rPr>
              <a:t>Recent verdicts: design and a company's own statements.</a:t>
            </a:r>
            <a:endParaRPr lang="en-US" sz="2400" dirty="0"/>
          </a:p>
        </p:txBody>
      </p:sp>
      <p:sp>
        <p:nvSpPr>
          <p:cNvPr id="6" name="Ask label"/>
          <p:cNvSpPr txBox="1"/>
          <p:nvPr/>
        </p:nvSpPr>
        <p:spPr>
          <a:xfrm>
            <a:off x="731520" y="4800600"/>
            <a:ext cx="1828800" cy="274320"/>
          </a:xfrm>
          <a:prstGeom prst="rect">
            <a:avLst/>
          </a:prstGeom>
          <a:noFill/>
          <a:ln/>
        </p:spPr>
        <p:txBody>
          <a:bodyPr wrap="square" lIns="0" tIns="0" rIns="0" bIns="0" rtlCol="0" anchor="ctr"/>
          <a:lstStyle/>
          <a:p>
            <a:pPr indent="0" marL="0">
              <a:buNone/>
            </a:pPr>
            <a:r>
              <a:rPr lang="en-US" sz="1200" b="1" spc="200" kern="0" dirty="0">
                <a:solidFill>
                  <a:schemeClr val="accent3"/>
                </a:solidFill>
              </a:rPr>
              <a:t>ASK</a:t>
            </a:r>
            <a:endParaRPr lang="en-US" sz="1200" dirty="0"/>
          </a:p>
        </p:txBody>
      </p:sp>
      <p:sp>
        <p:nvSpPr>
          <p:cNvPr id="7" name="Ask"/>
          <p:cNvSpPr txBox="1"/>
          <p:nvPr/>
        </p:nvSpPr>
        <p:spPr>
          <a:xfrm>
            <a:off x="731520" y="5074920"/>
            <a:ext cx="10698480" cy="822960"/>
          </a:xfrm>
          <a:prstGeom prst="rect">
            <a:avLst/>
          </a:prstGeom>
          <a:noFill/>
          <a:ln/>
        </p:spPr>
        <p:txBody>
          <a:bodyPr wrap="square" lIns="0" tIns="0" rIns="0" bIns="0" rtlCol="0" anchor="t"/>
          <a:lstStyle/>
          <a:p>
            <a:pPr indent="0" marL="0">
              <a:buNone/>
            </a:pPr>
            <a:r>
              <a:rPr lang="en-US" sz="2400" i="1" dirty="0">
                <a:solidFill>
                  <a:schemeClr val="tx1"/>
                </a:solidFill>
              </a:rPr>
              <a:t>Which of those makes a platform liable just because a user's post was false?</a:t>
            </a:r>
            <a:endParaRPr lang="en-US" sz="2400" dirty="0"/>
          </a:p>
        </p:txBody>
      </p:sp>
      <p:sp>
        <p:nvSpPr>
          <p:cNvPr id="8" name="Owner"/>
          <p:cNvSpPr txBox="1"/>
          <p:nvPr/>
        </p:nvSpPr>
        <p:spPr>
          <a:xfrm>
            <a:off x="731520" y="6263640"/>
            <a:ext cx="2743200" cy="320040"/>
          </a:xfrm>
          <a:prstGeom prst="rect">
            <a:avLst/>
          </a:prstGeom>
          <a:noFill/>
          <a:ln/>
        </p:spPr>
        <p:txBody>
          <a:bodyPr wrap="square" lIns="0" tIns="0" rIns="0" bIns="0" rtlCol="0" anchor="ctr"/>
          <a:lstStyle/>
          <a:p>
            <a:pPr indent="0" marL="0">
              <a:buNone/>
            </a:pPr>
            <a:r>
              <a:rPr lang="en-US" sz="1300" b="1" spc="100" kern="0" dirty="0">
                <a:solidFill>
                  <a:schemeClr val="accent1"/>
                </a:solidFill>
              </a:rPr>
              <a:t>OWNER  ·  P5</a:t>
            </a:r>
            <a:endParaRPr lang="en-US" sz="1300" dirty="0"/>
          </a:p>
        </p:txBody>
      </p:sp>
      <p:sp>
        <p:nvSpPr>
          <p:cNvPr id="9" name="Nav ← Menu">
            <a:hlinkClick r:id="rId1" tooltip="← Menu" action="ppaction://hlinksldjump"/>
          </p:cNvPr>
          <p:cNvSpPr txBox="1"/>
          <p:nvPr/>
        </p:nvSpPr>
        <p:spPr>
          <a:xfrm>
            <a:off x="720547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 Menu</a:t>
            </a:r>
            <a:endParaRPr lang="en-US" sz="1300" dirty="0"/>
          </a:p>
        </p:txBody>
      </p:sp>
      <p:sp>
        <p:nvSpPr>
          <p:cNvPr id="10" name="Nav Our case">
            <a:hlinkClick r:id="rId2" tooltip="Our case" action="ppaction://hlinksldjump"/>
          </p:cNvPr>
          <p:cNvSpPr txBox="1"/>
          <p:nvPr/>
        </p:nvSpPr>
        <p:spPr>
          <a:xfrm>
            <a:off x="862279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Our case</a:t>
            </a:r>
            <a:endParaRPr lang="en-US" sz="1300" dirty="0"/>
          </a:p>
        </p:txBody>
      </p:sp>
      <p:sp>
        <p:nvSpPr>
          <p:cNvPr id="11" name="Nav The test">
            <a:hlinkClick r:id="rId3" tooltip="The test" action="ppaction://hlinksldjump"/>
          </p:cNvPr>
          <p:cNvSpPr txBox="1"/>
          <p:nvPr/>
        </p:nvSpPr>
        <p:spPr>
          <a:xfrm>
            <a:off x="1004011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The test</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name="Slide 20">
    <p:spTree>
      <p:nvGrpSpPr>
        <p:cNvPr id="1" name=""/>
        <p:cNvGrpSpPr/>
        <p:nvPr/>
      </p:nvGrpSpPr>
      <p:grpSpPr>
        <a:xfrm>
          <a:off x="0" y="0"/>
          <a:ext cx="0" cy="0"/>
          <a:chOff x="0" y="0"/>
          <a:chExt cx="0" cy="0"/>
        </a:xfrm>
      </p:grpSpPr>
      <p:sp>
        <p:nvSpPr>
          <p:cNvPr id="2" name="Backdrop"/>
          <p:cNvSpPr txBox="1"/>
          <p:nvPr/>
        </p:nvSpPr>
        <p:spPr>
          <a:xfrm>
            <a:off x="731520" y="2651760"/>
            <a:ext cx="10698480" cy="1097280"/>
          </a:xfrm>
          <a:prstGeom prst="rect">
            <a:avLst/>
          </a:prstGeom>
          <a:noFill/>
          <a:ln/>
        </p:spPr>
        <p:txBody>
          <a:bodyPr wrap="square" lIns="0" tIns="0" rIns="0" bIns="0" rtlCol="0" anchor="ctr"/>
          <a:lstStyle/>
          <a:p>
            <a:pPr algn="ctr" indent="0" marL="0">
              <a:buNone/>
            </a:pPr>
            <a:r>
              <a:rPr lang="en-US" sz="2600" b="1" dirty="0">
                <a:solidFill>
                  <a:schemeClr val="accent1"/>
                </a:solidFill>
              </a:rPr>
              <a:t>TRIGGER  ·  TRUTH  ·  CONDUCT  ·  CONSEQUENCES  ·  ALTERNATIVE</a:t>
            </a:r>
            <a:endParaRPr lang="en-US" sz="2600" dirty="0"/>
          </a:p>
        </p:txBody>
      </p:sp>
      <p:sp>
        <p:nvSpPr>
          <p:cNvPr id="3" name="Nav ← Menu">
            <a:hlinkClick r:id="rId1" tooltip="← Menu" action="ppaction://hlinksldjump"/>
          </p:cNvPr>
          <p:cNvSpPr txBox="1"/>
          <p:nvPr/>
        </p:nvSpPr>
        <p:spPr>
          <a:xfrm>
            <a:off x="862279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 Menu</a:t>
            </a:r>
            <a:endParaRPr lang="en-US" sz="1300" dirty="0"/>
          </a:p>
        </p:txBody>
      </p:sp>
      <p:sp>
        <p:nvSpPr>
          <p:cNvPr id="4" name="Nav The test">
            <a:hlinkClick r:id="rId2" tooltip="The test" action="ppaction://hlinksldjump"/>
          </p:cNvPr>
          <p:cNvSpPr txBox="1"/>
          <p:nvPr/>
        </p:nvSpPr>
        <p:spPr>
          <a:xfrm>
            <a:off x="10040112" y="6263640"/>
            <a:ext cx="1417320" cy="320040"/>
          </a:xfrm>
          <a:prstGeom prst="rect">
            <a:avLst/>
          </a:prstGeom>
          <a:noFill/>
          <a:ln/>
        </p:spPr>
        <p:txBody>
          <a:bodyPr wrap="square" lIns="0" tIns="0" rIns="0" bIns="0" rtlCol="0" anchor="ctr"/>
          <a:lstStyle/>
          <a:p>
            <a:pPr algn="r" indent="0" marL="0">
              <a:buNone/>
            </a:pPr>
            <a:r>
              <a:rPr lang="en-US" sz="1300" dirty="0">
                <a:solidFill>
                  <a:schemeClr val="accent3"/>
                </a:solidFill>
              </a:rPr>
              <a:t>The test</a:t>
            </a:r>
            <a:endParaRPr lang="en-US" sz="1300" dirty="0"/>
          </a:p>
        </p:txBody>
      </p:sp>
    </p:spTree>
  </p:cSld>
  <p:clrMapOvr>
    <a:masterClrMapping/>
  </p:clrMapOvr>
</p:sld>
</file>

<file path=ppt/theme/theme1.xml><?xml version="1.0" encoding="utf-8"?>
<a:theme xmlns:a="http://schemas.openxmlformats.org/drawingml/2006/main" name="Group 6 Debate">
  <a:themeElements>
    <a:clrScheme name="Group 6 Debate">
      <a:dk1>
        <a:srgbClr val="16201D"/>
      </a:dk1>
      <a:lt1>
        <a:srgbClr val="FFFFFF"/>
      </a:lt1>
      <a:dk2>
        <a:srgbClr val="1D4D6A"/>
      </a:dk2>
      <a:lt2>
        <a:srgbClr val="EEF2F1"/>
      </a:lt2>
      <a:accent1>
        <a:srgbClr val="1D4D6A"/>
      </a:accent1>
      <a:accent2>
        <a:srgbClr val="9B5A3C"/>
      </a:accent2>
      <a:accent3>
        <a:srgbClr val="5B6763"/>
      </a:accent3>
      <a:accent4>
        <a:srgbClr val="C9D8E1"/>
      </a:accent4>
      <a:accent5>
        <a:srgbClr val="7FA3B8"/>
      </a:accent5>
      <a:accent6>
        <a:srgbClr val="F3E8E1"/>
      </a:accent6>
      <a:hlink>
        <a:srgbClr val="1D4D6A"/>
      </a:hlink>
      <a:folHlink>
        <a:srgbClr val="1D4D6A"/>
      </a:folHlink>
    </a:clrScheme>
    <a:fontScheme name="Group 6 Debat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6 — Debate Deck</dc:title>
  <dc:subject>PptxGenJS Presentation</dc:subject>
  <dc:creator>Group 6</dc:creator>
  <cp:lastModifiedBy>Group 6</cp:lastModifiedBy>
  <cp:revision>1</cp:revision>
  <dcterms:created xsi:type="dcterms:W3CDTF">2026-10-15T19:31:51Z</dcterms:created>
  <dcterms:modified xsi:type="dcterms:W3CDTF">2026-10-15T19:31:51Z</dcterms:modified>
</cp:coreProperties>
</file>